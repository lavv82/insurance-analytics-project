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3"/>
  </p:notesMasterIdLst>
  <p:handoutMasterIdLst>
    <p:handoutMasterId r:id="rId24"/>
  </p:handoutMasterIdLst>
  <p:sldIdLst>
    <p:sldId id="312" r:id="rId5"/>
    <p:sldId id="304" r:id="rId6"/>
    <p:sldId id="307" r:id="rId7"/>
    <p:sldId id="281" r:id="rId8"/>
    <p:sldId id="323" r:id="rId9"/>
    <p:sldId id="324" r:id="rId10"/>
    <p:sldId id="325" r:id="rId11"/>
    <p:sldId id="326" r:id="rId12"/>
    <p:sldId id="327" r:id="rId13"/>
    <p:sldId id="328" r:id="rId14"/>
    <p:sldId id="317" r:id="rId15"/>
    <p:sldId id="322" r:id="rId16"/>
    <p:sldId id="329" r:id="rId17"/>
    <p:sldId id="330" r:id="rId18"/>
    <p:sldId id="331" r:id="rId19"/>
    <p:sldId id="332" r:id="rId20"/>
    <p:sldId id="297" r:id="rId21"/>
    <p:sldId id="333" r:id="rId22"/>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AF6"/>
    <a:srgbClr val="FFEFEF"/>
    <a:srgbClr val="AAC3E8"/>
    <a:srgbClr val="202C8F"/>
    <a:srgbClr val="FDFBF6"/>
    <a:srgbClr val="AAC4E9"/>
    <a:srgbClr val="F5CDCE"/>
    <a:srgbClr val="DF8C8C"/>
    <a:srgbClr val="D4D593"/>
    <a:srgbClr val="E6F0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78" d="100"/>
          <a:sy n="78" d="100"/>
        </p:scale>
        <p:origin x="878"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v Dubey" userId="7279828d398a9119" providerId="LiveId" clId="{2AA98B38-00A7-4B61-BAF4-C8311D89AA21}"/>
    <pc:docChg chg="undo redo custSel addSld delSld modSld sldOrd modMainMaster">
      <pc:chgData name="Lav Dubey" userId="7279828d398a9119" providerId="LiveId" clId="{2AA98B38-00A7-4B61-BAF4-C8311D89AA21}" dt="2026-10-04T07:08:45.876" v="1064" actId="1076"/>
      <pc:docMkLst>
        <pc:docMk/>
      </pc:docMkLst>
      <pc:sldChg chg="modSp mod modTransition">
        <pc:chgData name="Lav Dubey" userId="7279828d398a9119" providerId="LiveId" clId="{2AA98B38-00A7-4B61-BAF4-C8311D89AA21}" dt="2026-10-04T07:08:45.876" v="1064" actId="1076"/>
        <pc:sldMkLst>
          <pc:docMk/>
          <pc:sldMk cId="2202437675" sldId="312"/>
        </pc:sldMkLst>
        <pc:spChg chg="mod">
          <ac:chgData name="Lav Dubey" userId="7279828d398a9119" providerId="LiveId" clId="{2AA98B38-00A7-4B61-BAF4-C8311D89AA21}" dt="2026-10-04T07:08:45.876" v="1064" actId="1076"/>
          <ac:spMkLst>
            <pc:docMk/>
            <pc:sldMk cId="2202437675" sldId="312"/>
            <ac:spMk id="4" creationId="{533B5759-1A5E-CFED-0ED6-A4FAD4E6D29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FA542-9A1D-427B-A593-AB640FD023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3F1F0-930D-807B-B8B4-87F2E958D7CC}"/>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3B69A6A-6E8D-3A87-D4CE-86959C62E92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999607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4F52D-D5C5-0C52-3F67-4597144DB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8DF99E-0E9D-7D01-6519-A183EAB7A7CC}"/>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CA91CDA-D006-8250-AD09-8536211B7AC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49389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55F75-08BD-9673-4448-D39733BB5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49F18A-0F81-FBDB-C39C-7A700F71970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C855304-FB6F-582B-7D4D-EF5C73B75514}"/>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142511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B83E6-4A5A-148D-3CFE-D2EA4B719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6C25BD-6613-05EF-4CD5-58568F65A46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6B26074-6DAF-77C8-57B6-0024463311EB}"/>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275889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2EA8C-822C-FE02-29E9-3CB9E20FC9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2FF9E8-ED8A-78FE-9ACD-83F32FB541F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4317EFB-33B2-6760-7706-1960B5F658B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119642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50F4B-2F89-70CD-0E29-AA3820D84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22A5E-8503-EEC1-E4FE-A6E83DE7366C}"/>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197CA08-4C3A-3AD5-8F71-B66926852E11}"/>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568259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A2BDE-3F95-C093-4518-8538F5A9C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18A4C-C583-5CE4-7470-9AAA07CF117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860F858-6FC4-761F-2C36-BBF73CD259BD}"/>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1105779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A14A-E729-C77A-9B45-84F9B9234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F4995-DA9C-6E74-C6CE-C2FB99A51AC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DBB70D7-1F15-2EBE-1A43-54EDD4C3DEA0}"/>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338964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40429-2A2B-3A19-2F0C-781BEF4F0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CCDA6-5C89-433F-862A-6EAC8A5D9E1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F5A2F77-89D8-DEC2-CF56-9227C3E10C66}"/>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4080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F88E6-3EF7-76BA-D528-F1A5555793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8C53E-45FF-AA3B-315A-41DCC3B7BA7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487178F-0F5A-524A-1757-EEFAD2E6625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781504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101EE-B76E-C20C-13AB-492EA5A05A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5FFE0-7860-9FB0-E540-310D4E152B7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AEBF479-08BF-8853-5889-DF1C20EA750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834494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320050" y="3982"/>
            <a:ext cx="7551900" cy="3830599"/>
          </a:xfrm>
        </p:spPr>
        <p:txBody>
          <a:bodyPr anchor="ctr"/>
          <a:lstStyle/>
          <a:p>
            <a:r>
              <a:rPr lang="en-US" sz="2400" dirty="0"/>
              <a:t>Insurance policy data analysis </a:t>
            </a:r>
            <a:br>
              <a:rPr lang="en-US" sz="2400" dirty="0"/>
            </a:br>
            <a:r>
              <a:rPr lang="en-US" sz="2400" dirty="0"/>
              <a:t>&amp; </a:t>
            </a:r>
            <a:br>
              <a:rPr lang="en-US" sz="2400" dirty="0"/>
            </a:br>
            <a:r>
              <a:rPr lang="en-US" sz="2400" dirty="0"/>
              <a:t>insights</a:t>
            </a:r>
          </a:p>
        </p:txBody>
      </p:sp>
      <p:sp>
        <p:nvSpPr>
          <p:cNvPr id="5" name="Rectangle 4">
            <a:extLst>
              <a:ext uri="{FF2B5EF4-FFF2-40B4-BE49-F238E27FC236}">
                <a16:creationId xmlns:a16="http://schemas.microsoft.com/office/drawing/2014/main" id="{4129CB40-078E-14CE-CB4A-ADAFC4D6A300}"/>
              </a:ext>
            </a:extLst>
          </p:cNvPr>
          <p:cNvSpPr/>
          <p:nvPr/>
        </p:nvSpPr>
        <p:spPr>
          <a:xfrm>
            <a:off x="9163665" y="3657600"/>
            <a:ext cx="2851354" cy="286118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5D739D98-2579-C511-600B-8D525EA94006}"/>
              </a:ext>
            </a:extLst>
          </p:cNvPr>
          <p:cNvSpPr/>
          <p:nvPr/>
        </p:nvSpPr>
        <p:spPr>
          <a:xfrm>
            <a:off x="176981" y="3667435"/>
            <a:ext cx="2851354" cy="2861187"/>
          </a:xfrm>
          <a:prstGeom prst="rect">
            <a:avLst/>
          </a:prstGeom>
          <a:solidFill>
            <a:srgbClr val="AAC3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accent6">
                    <a:lumMod val="75000"/>
                  </a:schemeClr>
                </a:solidFill>
                <a:latin typeface="+mj-lt"/>
              </a:rPr>
              <a:t>TOOLS USED</a:t>
            </a:r>
          </a:p>
          <a:p>
            <a:endParaRPr lang="en-US" dirty="0"/>
          </a:p>
          <a:p>
            <a:pPr marL="285750" indent="-285750">
              <a:buFont typeface="Arial" panose="020B0604020202020204" pitchFamily="34" charset="0"/>
              <a:buChar char="•"/>
            </a:pPr>
            <a:r>
              <a:rPr lang="en-IN" dirty="0"/>
              <a:t>Excel</a:t>
            </a:r>
          </a:p>
          <a:p>
            <a:pPr marL="285750" indent="-285750">
              <a:buFont typeface="Arial" panose="020B0604020202020204" pitchFamily="34" charset="0"/>
              <a:buChar char="•"/>
            </a:pPr>
            <a:r>
              <a:rPr lang="en-IN" dirty="0" err="1"/>
              <a:t>MySql</a:t>
            </a:r>
            <a:r>
              <a:rPr lang="en-IN" dirty="0"/>
              <a:t> </a:t>
            </a:r>
          </a:p>
          <a:p>
            <a:pPr marL="285750" indent="-285750">
              <a:buFont typeface="Arial" panose="020B0604020202020204" pitchFamily="34" charset="0"/>
              <a:buChar char="•"/>
            </a:pPr>
            <a:r>
              <a:rPr lang="en-IN" dirty="0"/>
              <a:t>Power Bi </a:t>
            </a:r>
          </a:p>
          <a:p>
            <a:pPr marL="285750" indent="-285750">
              <a:buFont typeface="Arial" panose="020B0604020202020204" pitchFamily="34" charset="0"/>
              <a:buChar char="•"/>
            </a:pPr>
            <a:r>
              <a:rPr lang="en-IN" dirty="0"/>
              <a:t>Tableau </a:t>
            </a:r>
          </a:p>
        </p:txBody>
      </p:sp>
      <p:sp>
        <p:nvSpPr>
          <p:cNvPr id="4" name="TextBox 3">
            <a:extLst>
              <a:ext uri="{FF2B5EF4-FFF2-40B4-BE49-F238E27FC236}">
                <a16:creationId xmlns:a16="http://schemas.microsoft.com/office/drawing/2014/main" id="{533B5759-1A5E-CFED-0ED6-A4FAD4E6D296}"/>
              </a:ext>
            </a:extLst>
          </p:cNvPr>
          <p:cNvSpPr txBox="1"/>
          <p:nvPr/>
        </p:nvSpPr>
        <p:spPr>
          <a:xfrm>
            <a:off x="9311149" y="4576519"/>
            <a:ext cx="2703870" cy="1200329"/>
          </a:xfrm>
          <a:prstGeom prst="rect">
            <a:avLst/>
          </a:prstGeom>
          <a:noFill/>
        </p:spPr>
        <p:txBody>
          <a:bodyPr wrap="square">
            <a:spAutoFit/>
          </a:bodyPr>
          <a:lstStyle/>
          <a:p>
            <a:r>
              <a:rPr lang="en-US" dirty="0">
                <a:solidFill>
                  <a:schemeClr val="accent6">
                    <a:lumMod val="75000"/>
                  </a:schemeClr>
                </a:solidFill>
                <a:latin typeface="+mj-lt"/>
              </a:rPr>
              <a:t>PRESENTED BY-</a:t>
            </a:r>
          </a:p>
          <a:p>
            <a:endParaRPr lang="en-US" dirty="0">
              <a:latin typeface="+mj-lt"/>
            </a:endParaRPr>
          </a:p>
          <a:p>
            <a:r>
              <a:rPr lang="en-US" dirty="0">
                <a:latin typeface="Bookman Old Style" panose="02050604050505020204" pitchFamily="18" charset="0"/>
              </a:rPr>
              <a:t>Lav Dubey  </a:t>
            </a:r>
          </a:p>
          <a:p>
            <a:endParaRPr lang="en-IN" dirty="0">
              <a:latin typeface="+mj-lt"/>
            </a:endParaRP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1531357"/>
          </a:xfrm>
        </p:spPr>
        <p:txBody>
          <a:bodyPr/>
          <a:lstStyle/>
          <a:p>
            <a:r>
              <a:rPr lang="en-US" dirty="0"/>
              <a:t>agenda</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2834640"/>
            <a:ext cx="6583680" cy="3207344"/>
          </a:xfrm>
        </p:spPr>
        <p:txBody>
          <a:bodyPr>
            <a:normAutofit fontScale="85000" lnSpcReduction="20000"/>
          </a:bodyPr>
          <a:lstStyle/>
          <a:p>
            <a:r>
              <a:rPr lang="en-US" dirty="0"/>
              <a:t>Introduction</a:t>
            </a:r>
          </a:p>
          <a:p>
            <a:r>
              <a:rPr lang="en-US" dirty="0"/>
              <a:t>KPI Analysis</a:t>
            </a:r>
          </a:p>
          <a:p>
            <a:r>
              <a:rPr lang="en-US" dirty="0"/>
              <a:t>Policy &amp; Customer Analysis </a:t>
            </a:r>
          </a:p>
          <a:p>
            <a:r>
              <a:rPr lang="en-US" dirty="0"/>
              <a:t>Key Findings / Business Insights</a:t>
            </a:r>
          </a:p>
          <a:p>
            <a:r>
              <a:rPr lang="en-US" dirty="0"/>
              <a:t>Recommendations</a:t>
            </a:r>
          </a:p>
          <a:p>
            <a:r>
              <a:rPr lang="en-US" dirty="0"/>
              <a:t>Dashboards</a:t>
            </a:r>
          </a:p>
          <a:p>
            <a:r>
              <a:rPr lang="en-US" dirty="0" err="1"/>
              <a:t>MySql</a:t>
            </a:r>
            <a:r>
              <a:rPr lang="en-US" dirty="0"/>
              <a:t> Queries </a:t>
            </a:r>
          </a:p>
          <a:p>
            <a:r>
              <a:rPr lang="en-US" dirty="0"/>
              <a:t>Conclusion</a:t>
            </a:r>
          </a:p>
          <a:p>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3849329" y="146964"/>
            <a:ext cx="4493342" cy="816338"/>
          </a:xfrm>
        </p:spPr>
        <p:txBody>
          <a:bodyPr/>
          <a:lstStyle/>
          <a:p>
            <a:r>
              <a:rPr lang="en-US" dirty="0"/>
              <a:t>introduction</a:t>
            </a:r>
          </a:p>
        </p:txBody>
      </p:sp>
      <p:sp>
        <p:nvSpPr>
          <p:cNvPr id="5" name="TextBox 4">
            <a:extLst>
              <a:ext uri="{FF2B5EF4-FFF2-40B4-BE49-F238E27FC236}">
                <a16:creationId xmlns:a16="http://schemas.microsoft.com/office/drawing/2014/main" id="{BD326677-DA45-2EC2-0B4A-1E70B0427841}"/>
              </a:ext>
            </a:extLst>
          </p:cNvPr>
          <p:cNvSpPr txBox="1"/>
          <p:nvPr/>
        </p:nvSpPr>
        <p:spPr>
          <a:xfrm>
            <a:off x="727587" y="963302"/>
            <a:ext cx="9497961" cy="4708981"/>
          </a:xfrm>
          <a:prstGeom prst="rect">
            <a:avLst/>
          </a:prstGeom>
          <a:noFill/>
        </p:spPr>
        <p:txBody>
          <a:bodyPr wrap="square" rtlCol="0">
            <a:spAutoFit/>
          </a:bodyPr>
          <a:lstStyle/>
          <a:p>
            <a:pPr marL="285750" lvl="0" indent="-285750">
              <a:buFont typeface="Arial" panose="020B0604020202020204" pitchFamily="34" charset="0"/>
              <a:buChar char="•"/>
            </a:pPr>
            <a:r>
              <a:rPr lang="en-IN" sz="2000" dirty="0">
                <a:solidFill>
                  <a:schemeClr val="accent6"/>
                </a:solidFill>
                <a:latin typeface="Aptos" panose="020B0004020202020204" pitchFamily="34" charset="0"/>
                <a:ea typeface="Segoe UI Emoji" panose="020B0502040204020203" pitchFamily="34" charset="0"/>
              </a:rPr>
              <a:t>Analysed insurance policy data to understand overall business performance. </a:t>
            </a:r>
          </a:p>
          <a:p>
            <a:pPr lvl="0"/>
            <a:endParaRPr lang="en-IN" sz="2000" dirty="0">
              <a:solidFill>
                <a:schemeClr val="accent6"/>
              </a:solidFill>
              <a:latin typeface="Aptos" panose="020B0004020202020204" pitchFamily="34" charset="0"/>
              <a:ea typeface="Segoe UI Emoji" panose="020B0502040204020203" pitchFamily="34" charset="0"/>
            </a:endParaRPr>
          </a:p>
          <a:p>
            <a:pPr marL="285750" lvl="0" indent="-285750">
              <a:buFont typeface="Arial" panose="020B0604020202020204" pitchFamily="34" charset="0"/>
              <a:buChar char="•"/>
            </a:pPr>
            <a:r>
              <a:rPr lang="en-IN" sz="2000" dirty="0">
                <a:solidFill>
                  <a:schemeClr val="accent6"/>
                </a:solidFill>
                <a:latin typeface="Aptos" panose="020B0004020202020204" pitchFamily="34" charset="0"/>
                <a:ea typeface="Segoe UI Emoji" panose="020B0502040204020203" pitchFamily="34" charset="0"/>
              </a:rPr>
              <a:t>Studied policy distribution, customer behaviour, claims, payments, and premium trends. </a:t>
            </a:r>
          </a:p>
          <a:p>
            <a:pPr lvl="0"/>
            <a:endParaRPr lang="en-IN" sz="2000" dirty="0">
              <a:solidFill>
                <a:schemeClr val="accent6"/>
              </a:solidFill>
              <a:latin typeface="Aptos" panose="020B0004020202020204" pitchFamily="34" charset="0"/>
              <a:ea typeface="Segoe UI Emoji" panose="020B0502040204020203" pitchFamily="34" charset="0"/>
            </a:endParaRPr>
          </a:p>
          <a:p>
            <a:pPr marL="285750" lvl="0" indent="-285750">
              <a:buFont typeface="Arial" panose="020B0604020202020204" pitchFamily="34" charset="0"/>
              <a:buChar char="•"/>
            </a:pPr>
            <a:r>
              <a:rPr lang="en-IN" sz="2000" dirty="0">
                <a:solidFill>
                  <a:schemeClr val="accent6"/>
                </a:solidFill>
                <a:latin typeface="Aptos" panose="020B0004020202020204" pitchFamily="34" charset="0"/>
                <a:ea typeface="Segoe UI Emoji" panose="020B0502040204020203" pitchFamily="34" charset="0"/>
              </a:rPr>
              <a:t>Developed key KPIs and visualizations to identify important patterns in the data.</a:t>
            </a:r>
          </a:p>
          <a:p>
            <a:pPr lvl="0"/>
            <a:r>
              <a:rPr lang="en-IN" sz="2000" dirty="0">
                <a:solidFill>
                  <a:schemeClr val="accent6"/>
                </a:solidFill>
                <a:latin typeface="Aptos" panose="020B0004020202020204" pitchFamily="34" charset="0"/>
                <a:ea typeface="Segoe UI Emoji" panose="020B0502040204020203" pitchFamily="34" charset="0"/>
              </a:rPr>
              <a:t> </a:t>
            </a:r>
          </a:p>
          <a:p>
            <a:pPr marL="285750" lvl="0" indent="-285750">
              <a:buFont typeface="Arial" panose="020B0604020202020204" pitchFamily="34" charset="0"/>
              <a:buChar char="•"/>
            </a:pPr>
            <a:r>
              <a:rPr lang="en-IN" sz="2000" dirty="0">
                <a:solidFill>
                  <a:schemeClr val="accent6"/>
                </a:solidFill>
                <a:latin typeface="Aptos" panose="020B0004020202020204" pitchFamily="34" charset="0"/>
                <a:ea typeface="Segoe UI Emoji" panose="020B0502040204020203" pitchFamily="34" charset="0"/>
              </a:rPr>
              <a:t>Used Excel and MySQL for data analysis and validation. </a:t>
            </a:r>
          </a:p>
          <a:p>
            <a:pPr lvl="0"/>
            <a:endParaRPr lang="en-IN" sz="2000" dirty="0">
              <a:solidFill>
                <a:schemeClr val="accent6"/>
              </a:solidFill>
              <a:latin typeface="Aptos" panose="020B0004020202020204" pitchFamily="34" charset="0"/>
              <a:ea typeface="Segoe UI Emoji" panose="020B0502040204020203" pitchFamily="34" charset="0"/>
            </a:endParaRPr>
          </a:p>
          <a:p>
            <a:pPr marL="285750" lvl="0" indent="-285750">
              <a:buFont typeface="Arial" panose="020B0604020202020204" pitchFamily="34" charset="0"/>
              <a:buChar char="•"/>
            </a:pPr>
            <a:r>
              <a:rPr lang="en-IN" sz="2000" dirty="0">
                <a:solidFill>
                  <a:schemeClr val="accent6"/>
                </a:solidFill>
                <a:latin typeface="Aptos" panose="020B0004020202020204" pitchFamily="34" charset="0"/>
                <a:ea typeface="Segoe UI Emoji" panose="020B0502040204020203" pitchFamily="34" charset="0"/>
              </a:rPr>
              <a:t>Used Power BI and Tableau to create interactive dashboards and visual reports. </a:t>
            </a:r>
          </a:p>
          <a:p>
            <a:pPr lvl="0"/>
            <a:endParaRPr lang="en-IN" sz="2000" dirty="0">
              <a:solidFill>
                <a:schemeClr val="accent6"/>
              </a:solidFill>
              <a:latin typeface="Aptos" panose="020B0004020202020204" pitchFamily="34" charset="0"/>
              <a:ea typeface="Segoe UI Emoji" panose="020B0502040204020203" pitchFamily="34" charset="0"/>
            </a:endParaRPr>
          </a:p>
          <a:p>
            <a:pPr marL="285750" lvl="0" indent="-285750">
              <a:buFont typeface="Arial" panose="020B0604020202020204" pitchFamily="34" charset="0"/>
              <a:buChar char="•"/>
            </a:pPr>
            <a:r>
              <a:rPr lang="en-IN" sz="2000" dirty="0">
                <a:solidFill>
                  <a:schemeClr val="accent6"/>
                </a:solidFill>
                <a:latin typeface="Aptos" panose="020B0004020202020204" pitchFamily="34" charset="0"/>
                <a:ea typeface="Segoe UI Emoji" panose="020B0502040204020203" pitchFamily="34" charset="0"/>
              </a:rPr>
              <a:t>Identified key business insights and opportunities for improvement. </a:t>
            </a:r>
          </a:p>
          <a:p>
            <a:pPr lvl="0"/>
            <a:endParaRPr lang="en-IN" sz="2000" dirty="0">
              <a:solidFill>
                <a:schemeClr val="accent6"/>
              </a:solidFill>
              <a:latin typeface="Aptos" panose="020B0004020202020204" pitchFamily="34" charset="0"/>
              <a:ea typeface="Segoe UI Emoji" panose="020B0502040204020203" pitchFamily="34" charset="0"/>
            </a:endParaRPr>
          </a:p>
          <a:p>
            <a:pPr marL="285750" lvl="0" indent="-285750">
              <a:buFont typeface="Arial" panose="020B0604020202020204" pitchFamily="34" charset="0"/>
              <a:buChar char="•"/>
            </a:pPr>
            <a:r>
              <a:rPr lang="en-IN" sz="2000" dirty="0">
                <a:solidFill>
                  <a:schemeClr val="accent6"/>
                </a:solidFill>
                <a:latin typeface="Aptos" panose="020B0004020202020204" pitchFamily="34" charset="0"/>
                <a:ea typeface="Segoe UI Emoji" panose="020B0502040204020203" pitchFamily="34" charset="0"/>
              </a:rPr>
              <a:t>Provided data-driven recommendations to support better business decisions. </a:t>
            </a:r>
          </a:p>
          <a:p>
            <a:endParaRPr lang="en-IN" sz="2000" dirty="0">
              <a:solidFill>
                <a:schemeClr val="accent6"/>
              </a:solidFill>
              <a:latin typeface="Aptos" panose="020B0004020202020204" pitchFamily="34" charset="0"/>
              <a:ea typeface="Segoe UI Emoji" panose="020B0502040204020203" pitchFamily="34" charset="0"/>
            </a:endParaRP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180C6A-1314-2C12-8010-572703FF69F0}"/>
              </a:ext>
            </a:extLst>
          </p:cNvPr>
          <p:cNvSpPr/>
          <p:nvPr/>
        </p:nvSpPr>
        <p:spPr>
          <a:xfrm>
            <a:off x="549729" y="672037"/>
            <a:ext cx="4561114" cy="59247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649454" y="-88602"/>
            <a:ext cx="11049000" cy="499382"/>
          </a:xfrm>
        </p:spPr>
        <p:txBody>
          <a:bodyPr/>
          <a:lstStyle/>
          <a:p>
            <a:pPr algn="ctr"/>
            <a:r>
              <a:rPr lang="en-US" sz="2400" dirty="0"/>
              <a:t>Kpi-1 : POLICY TYPE WISE POLICY COUNT</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457199" y="410781"/>
            <a:ext cx="4691745" cy="6447220"/>
          </a:xfrm>
          <a:solidFill>
            <a:srgbClr val="FDFAF6"/>
          </a:solidFill>
        </p:spPr>
        <p:txBody>
          <a:bodyPr>
            <a:normAutofit/>
          </a:bodyPr>
          <a:lstStyle/>
          <a:p>
            <a:pPr marL="28575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The analysis shows that Health Insurance has the highest number of policies sold, with 1,316 policies.</a:t>
            </a: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This is followed by Property Insurance (1,236), Life Insurance (1,234), and Auto Insurance (1,214).</a:t>
            </a: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The company is performing relatively well in the Health Insurance segment.</a:t>
            </a: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However, there is an opportunity to improve sales in the other three segments, particularly Auto Insurance, which has the lowest number of policies sold.</a:t>
            </a: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The company should focus on increasing sales of Auto, Property, and Life Insurance while maintaining its strong performance in the Health Insurance segment.</a:t>
            </a:r>
          </a:p>
          <a:p>
            <a:pPr marL="285750" indent="-285750">
              <a:buFont typeface="Arial" panose="020B0604020202020204" pitchFamily="34" charset="0"/>
              <a:buChar char="•"/>
            </a:pPr>
            <a:endParaRPr lang="en-US" sz="1600" dirty="0">
              <a:latin typeface="Aptos" panose="020B0004020202020204" pitchFamily="34" charset="0"/>
            </a:endParaRPr>
          </a:p>
        </p:txBody>
      </p:sp>
      <p:pic>
        <p:nvPicPr>
          <p:cNvPr id="6" name="Picture Placeholder 5">
            <a:extLst>
              <a:ext uri="{FF2B5EF4-FFF2-40B4-BE49-F238E27FC236}">
                <a16:creationId xmlns:a16="http://schemas.microsoft.com/office/drawing/2014/main" id="{FECDA901-DD88-89EB-E10E-A2994D0A92DB}"/>
              </a:ext>
            </a:extLst>
          </p:cNvPr>
          <p:cNvPicPr>
            <a:picLocks noGrp="1" noChangeAspect="1"/>
          </p:cNvPicPr>
          <p:nvPr>
            <p:ph type="pic" sz="quarter" idx="11"/>
          </p:nvPr>
        </p:nvPicPr>
        <p:blipFill>
          <a:blip r:embed="rId3"/>
          <a:srcRect l="306" r="1069"/>
          <a:stretch>
            <a:fillRect/>
          </a:stretch>
        </p:blipFill>
        <p:spPr>
          <a:xfrm>
            <a:off x="5717994" y="672037"/>
            <a:ext cx="5592263" cy="5119163"/>
          </a:xfrm>
          <a:ln>
            <a:noFill/>
          </a:ln>
        </p:spPr>
      </p:pic>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8E30A-A062-E95B-1BA4-2F4D015511B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B1DBCC0-F838-25DF-9452-28A55A076767}"/>
              </a:ext>
            </a:extLst>
          </p:cNvPr>
          <p:cNvSpPr/>
          <p:nvPr/>
        </p:nvSpPr>
        <p:spPr>
          <a:xfrm>
            <a:off x="549729" y="672037"/>
            <a:ext cx="4561114" cy="59247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5A58AA68-7DD6-8713-F401-FB0101FF2C98}"/>
              </a:ext>
            </a:extLst>
          </p:cNvPr>
          <p:cNvSpPr>
            <a:spLocks noGrp="1"/>
          </p:cNvSpPr>
          <p:nvPr>
            <p:ph type="title"/>
          </p:nvPr>
        </p:nvSpPr>
        <p:spPr>
          <a:xfrm>
            <a:off x="649454" y="-88602"/>
            <a:ext cx="11049000" cy="499382"/>
          </a:xfrm>
        </p:spPr>
        <p:txBody>
          <a:bodyPr/>
          <a:lstStyle/>
          <a:p>
            <a:pPr algn="ctr"/>
            <a:r>
              <a:rPr lang="en-US" sz="2400" dirty="0"/>
              <a:t>Kpi-2 : POLICY STATUS WISE POLICY COUNT </a:t>
            </a:r>
          </a:p>
        </p:txBody>
      </p:sp>
      <p:sp>
        <p:nvSpPr>
          <p:cNvPr id="3" name="Text Placeholder 2">
            <a:extLst>
              <a:ext uri="{FF2B5EF4-FFF2-40B4-BE49-F238E27FC236}">
                <a16:creationId xmlns:a16="http://schemas.microsoft.com/office/drawing/2014/main" id="{FCB65BCB-4F98-7A62-68CA-3F19C8D0EF33}"/>
              </a:ext>
            </a:extLst>
          </p:cNvPr>
          <p:cNvSpPr>
            <a:spLocks noGrp="1"/>
          </p:cNvSpPr>
          <p:nvPr>
            <p:ph idx="1"/>
          </p:nvPr>
        </p:nvSpPr>
        <p:spPr>
          <a:xfrm>
            <a:off x="457199" y="410781"/>
            <a:ext cx="4691745" cy="6447220"/>
          </a:xfrm>
          <a:solidFill>
            <a:srgbClr val="FDFAF6"/>
          </a:solidFill>
        </p:spPr>
        <p:txBody>
          <a:bodyPr>
            <a:normAutofit/>
          </a:bodyPr>
          <a:lstStyle/>
          <a:p>
            <a:pPr marL="28575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The analysis shows that 1,682 policies are currently active, which is a positive indicator for the company.</a:t>
            </a:r>
          </a:p>
          <a:p>
            <a:pPr lvl="0"/>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However, 1,640 policies are lapsed, which is a significant concern and represents a major opportunity for improvement.</a:t>
            </a:r>
          </a:p>
          <a:p>
            <a:pPr lvl="0"/>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The company should focus on policy renewals and reactivation strategies to bring as many lapsed policies back into the active category as possible.</a:t>
            </a:r>
          </a:p>
          <a:p>
            <a:pPr lvl="0"/>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A significant number of policies have also been terminated, highlighting the need to strengthen customer retention and understand the key reasons behind policy termination.</a:t>
            </a:r>
          </a:p>
          <a:p>
            <a:pPr lvl="0"/>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Alongside renewal and retention efforts, the company should focus on acquiring new customers and selling new policies to compensate for terminated policies and support overall revenue growth.</a:t>
            </a:r>
          </a:p>
          <a:p>
            <a:pPr marL="285750" indent="-285750">
              <a:buFont typeface="Arial" panose="020B0604020202020204" pitchFamily="34" charset="0"/>
              <a:buChar char="•"/>
            </a:pPr>
            <a:endParaRPr lang="en-US" sz="1600" dirty="0">
              <a:latin typeface="Aptos" panose="020B0004020202020204" pitchFamily="34" charset="0"/>
            </a:endParaRPr>
          </a:p>
        </p:txBody>
      </p:sp>
      <p:pic>
        <p:nvPicPr>
          <p:cNvPr id="6" name="Picture Placeholder 5">
            <a:extLst>
              <a:ext uri="{FF2B5EF4-FFF2-40B4-BE49-F238E27FC236}">
                <a16:creationId xmlns:a16="http://schemas.microsoft.com/office/drawing/2014/main" id="{8297C8FA-5D4B-A9EA-95F2-A34ACF0F6849}"/>
              </a:ext>
            </a:extLst>
          </p:cNvPr>
          <p:cNvPicPr>
            <a:picLocks noGrp="1" noChangeAspect="1"/>
          </p:cNvPicPr>
          <p:nvPr>
            <p:ph type="pic" sz="quarter" idx="11"/>
          </p:nvPr>
        </p:nvPicPr>
        <p:blipFill>
          <a:blip r:embed="rId3"/>
          <a:srcRect l="30" r="106"/>
          <a:stretch>
            <a:fillRect/>
          </a:stretch>
        </p:blipFill>
        <p:spPr>
          <a:xfrm>
            <a:off x="5834743" y="672037"/>
            <a:ext cx="5526951" cy="5195363"/>
          </a:xfrm>
          <a:ln>
            <a:noFill/>
          </a:ln>
        </p:spPr>
      </p:pic>
    </p:spTree>
    <p:extLst>
      <p:ext uri="{BB962C8B-B14F-4D97-AF65-F5344CB8AC3E}">
        <p14:creationId xmlns:p14="http://schemas.microsoft.com/office/powerpoint/2010/main" val="2240404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DF665-353C-387B-F1E9-7BE2B9C982A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F774094-C7E6-8966-C742-4349D7E8BC00}"/>
              </a:ext>
            </a:extLst>
          </p:cNvPr>
          <p:cNvSpPr/>
          <p:nvPr/>
        </p:nvSpPr>
        <p:spPr>
          <a:xfrm>
            <a:off x="549729" y="672037"/>
            <a:ext cx="4561114" cy="59247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25AA3324-D2B3-E785-C655-0EA7BE462CDE}"/>
              </a:ext>
            </a:extLst>
          </p:cNvPr>
          <p:cNvSpPr>
            <a:spLocks noGrp="1"/>
          </p:cNvSpPr>
          <p:nvPr>
            <p:ph type="title"/>
          </p:nvPr>
        </p:nvSpPr>
        <p:spPr>
          <a:xfrm>
            <a:off x="649454" y="-88602"/>
            <a:ext cx="11049000" cy="499382"/>
          </a:xfrm>
        </p:spPr>
        <p:txBody>
          <a:bodyPr/>
          <a:lstStyle/>
          <a:p>
            <a:pPr algn="ctr"/>
            <a:r>
              <a:rPr lang="en-US" sz="2400" dirty="0"/>
              <a:t>Kpi-3 : age bucket – wise policy count</a:t>
            </a:r>
          </a:p>
        </p:txBody>
      </p:sp>
      <p:sp>
        <p:nvSpPr>
          <p:cNvPr id="3" name="Text Placeholder 2">
            <a:extLst>
              <a:ext uri="{FF2B5EF4-FFF2-40B4-BE49-F238E27FC236}">
                <a16:creationId xmlns:a16="http://schemas.microsoft.com/office/drawing/2014/main" id="{CD01859B-3A58-BC42-7735-AC9B83801598}"/>
              </a:ext>
            </a:extLst>
          </p:cNvPr>
          <p:cNvSpPr>
            <a:spLocks noGrp="1"/>
          </p:cNvSpPr>
          <p:nvPr>
            <p:ph idx="1"/>
          </p:nvPr>
        </p:nvSpPr>
        <p:spPr>
          <a:xfrm>
            <a:off x="457199" y="410781"/>
            <a:ext cx="4691745" cy="6447220"/>
          </a:xfrm>
          <a:solidFill>
            <a:srgbClr val="FDFAF6"/>
          </a:solidFill>
        </p:spPr>
        <p:txBody>
          <a:bodyPr>
            <a:normAutofit/>
          </a:bodyPr>
          <a:lstStyle/>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Customers aged 56+ hold the highest number of policies, making them a highly valuable customer segment. </a:t>
            </a: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The company should focus on building strong, long-term relationships with this segment and retaining them. </a:t>
            </a: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Customers aged 46–55 should also be targeted, as they are approaching the 56+ segment and represent a strong future customer base.</a:t>
            </a:r>
          </a:p>
          <a:p>
            <a:pPr lvl="0"/>
            <a:r>
              <a:rPr lang="en-IN" sz="1600" dirty="0">
                <a:latin typeface="Aptos" panose="020B0004020202020204" pitchFamily="34" charset="0"/>
              </a:rPr>
              <a:t> </a:t>
            </a:r>
          </a:p>
          <a:p>
            <a:pPr marL="285750" lvl="0" indent="-285750">
              <a:buFont typeface="Arial" panose="020B0604020202020204" pitchFamily="34" charset="0"/>
              <a:buChar char="•"/>
            </a:pPr>
            <a:r>
              <a:rPr lang="en-IN" sz="1600" dirty="0">
                <a:latin typeface="Aptos" panose="020B0004020202020204" pitchFamily="34" charset="0"/>
              </a:rPr>
              <a:t>The company should also focus on the 18–25 age group by offering attractive plans, benefits, or incentives that encourage them to start investing in insurance early.</a:t>
            </a:r>
          </a:p>
          <a:p>
            <a:pPr lvl="0"/>
            <a:r>
              <a:rPr lang="en-IN" sz="1600" dirty="0">
                <a:latin typeface="Aptos" panose="020B0004020202020204" pitchFamily="34" charset="0"/>
              </a:rPr>
              <a:t> </a:t>
            </a:r>
          </a:p>
          <a:p>
            <a:pPr marL="285750" lvl="0" indent="-285750">
              <a:buFont typeface="Arial" panose="020B0604020202020204" pitchFamily="34" charset="0"/>
              <a:buChar char="•"/>
            </a:pPr>
            <a:r>
              <a:rPr lang="en-IN" sz="1600" dirty="0">
                <a:latin typeface="Aptos" panose="020B0004020202020204" pitchFamily="34" charset="0"/>
              </a:rPr>
              <a:t>This approach can help the company retain valuable customers, build future customer relationships, and increase overall policy sales.</a:t>
            </a:r>
          </a:p>
          <a:p>
            <a:pPr marL="285750" indent="-285750">
              <a:buFont typeface="Arial" panose="020B0604020202020204" pitchFamily="34" charset="0"/>
              <a:buChar char="•"/>
            </a:pPr>
            <a:endParaRPr lang="en-US" sz="1600" dirty="0">
              <a:latin typeface="Aptos" panose="020B0004020202020204" pitchFamily="34" charset="0"/>
            </a:endParaRPr>
          </a:p>
        </p:txBody>
      </p:sp>
      <p:pic>
        <p:nvPicPr>
          <p:cNvPr id="8" name="Picture Placeholder 7">
            <a:extLst>
              <a:ext uri="{FF2B5EF4-FFF2-40B4-BE49-F238E27FC236}">
                <a16:creationId xmlns:a16="http://schemas.microsoft.com/office/drawing/2014/main" id="{6964720E-2AA3-6B8C-A772-146E226F702E}"/>
              </a:ext>
            </a:extLst>
          </p:cNvPr>
          <p:cNvPicPr>
            <a:picLocks noGrp="1" noChangeAspect="1"/>
          </p:cNvPicPr>
          <p:nvPr>
            <p:ph type="pic" sz="quarter" idx="11"/>
          </p:nvPr>
        </p:nvPicPr>
        <p:blipFill>
          <a:blip r:embed="rId3"/>
          <a:srcRect l="-38" r="128"/>
          <a:stretch>
            <a:fillRect/>
          </a:stretch>
        </p:blipFill>
        <p:spPr>
          <a:xfrm>
            <a:off x="5866527" y="672049"/>
            <a:ext cx="5509395" cy="5404286"/>
          </a:xfrm>
          <a:prstGeom prst="rect">
            <a:avLst/>
          </a:prstGeom>
          <a:solidFill>
            <a:srgbClr val="AAC3E8"/>
          </a:solidFill>
        </p:spPr>
      </p:pic>
    </p:spTree>
    <p:extLst>
      <p:ext uri="{BB962C8B-B14F-4D97-AF65-F5344CB8AC3E}">
        <p14:creationId xmlns:p14="http://schemas.microsoft.com/office/powerpoint/2010/main" val="3150439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4EFB6-1696-A4D5-5F40-75A387CADAC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440D223-2705-3250-99B7-D2DAE29C1086}"/>
              </a:ext>
            </a:extLst>
          </p:cNvPr>
          <p:cNvSpPr/>
          <p:nvPr/>
        </p:nvSpPr>
        <p:spPr>
          <a:xfrm>
            <a:off x="549729" y="672037"/>
            <a:ext cx="4561114" cy="59247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A465EA5-2D9A-C440-2B8F-792569C55F56}"/>
              </a:ext>
            </a:extLst>
          </p:cNvPr>
          <p:cNvSpPr>
            <a:spLocks noGrp="1"/>
          </p:cNvSpPr>
          <p:nvPr>
            <p:ph type="title"/>
          </p:nvPr>
        </p:nvSpPr>
        <p:spPr>
          <a:xfrm>
            <a:off x="649454" y="-88602"/>
            <a:ext cx="11049000" cy="499382"/>
          </a:xfrm>
        </p:spPr>
        <p:txBody>
          <a:bodyPr/>
          <a:lstStyle/>
          <a:p>
            <a:pPr algn="ctr"/>
            <a:r>
              <a:rPr lang="en-US" sz="2400" dirty="0"/>
              <a:t>Kpi-4 : payment status wise policy count</a:t>
            </a:r>
          </a:p>
        </p:txBody>
      </p:sp>
      <p:sp>
        <p:nvSpPr>
          <p:cNvPr id="3" name="Text Placeholder 2">
            <a:extLst>
              <a:ext uri="{FF2B5EF4-FFF2-40B4-BE49-F238E27FC236}">
                <a16:creationId xmlns:a16="http://schemas.microsoft.com/office/drawing/2014/main" id="{8F26E6F9-A46B-3FB5-B9AB-0FF632404477}"/>
              </a:ext>
            </a:extLst>
          </p:cNvPr>
          <p:cNvSpPr>
            <a:spLocks noGrp="1"/>
          </p:cNvSpPr>
          <p:nvPr>
            <p:ph idx="1"/>
          </p:nvPr>
        </p:nvSpPr>
        <p:spPr>
          <a:xfrm>
            <a:off x="457199" y="410781"/>
            <a:ext cx="4691745" cy="6447220"/>
          </a:xfrm>
          <a:solidFill>
            <a:srgbClr val="FDFAF6"/>
          </a:solidFill>
        </p:spPr>
        <p:txBody>
          <a:bodyPr>
            <a:normAutofit/>
          </a:bodyPr>
          <a:lstStyle/>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The analysis highlights payment failures as a major concern, with 2,484 failed payments compared with 2,516 successful payments. </a:t>
            </a: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Although the number of successful payments is slightly higher, the volume of failed payments is still significantly high and could directly impact the company’s revenue and customer retention.</a:t>
            </a:r>
          </a:p>
          <a:p>
            <a:pPr lvl="0"/>
            <a:r>
              <a:rPr lang="en-IN" sz="1600" dirty="0">
                <a:latin typeface="Aptos" panose="020B0004020202020204" pitchFamily="34" charset="0"/>
              </a:rPr>
              <a:t> </a:t>
            </a:r>
          </a:p>
          <a:p>
            <a:pPr marL="285750" lvl="0" indent="-285750">
              <a:buFont typeface="Arial" panose="020B0604020202020204" pitchFamily="34" charset="0"/>
              <a:buChar char="•"/>
            </a:pPr>
            <a:r>
              <a:rPr lang="en-IN" sz="1600" dirty="0">
                <a:latin typeface="Aptos" panose="020B0004020202020204" pitchFamily="34" charset="0"/>
              </a:rPr>
              <a:t>The company should investigate the root causes of these payment failures, such as payment gateway issues, transaction errors, or customer-related factors.</a:t>
            </a:r>
          </a:p>
          <a:p>
            <a:pPr lvl="0"/>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Identifying and resolving these issues should be a high priority to reduce failed transactions, improve the payment success rate, and minimize potential revenue loss. </a:t>
            </a:r>
          </a:p>
          <a:p>
            <a:pPr marL="285750" indent="-285750">
              <a:buFont typeface="Arial" panose="020B0604020202020204" pitchFamily="34" charset="0"/>
              <a:buChar char="•"/>
            </a:pPr>
            <a:endParaRPr lang="en-US" sz="1600" dirty="0">
              <a:latin typeface="Aptos" panose="020B0004020202020204" pitchFamily="34" charset="0"/>
            </a:endParaRPr>
          </a:p>
        </p:txBody>
      </p:sp>
      <p:pic>
        <p:nvPicPr>
          <p:cNvPr id="8" name="Picture Placeholder 7">
            <a:extLst>
              <a:ext uri="{FF2B5EF4-FFF2-40B4-BE49-F238E27FC236}">
                <a16:creationId xmlns:a16="http://schemas.microsoft.com/office/drawing/2014/main" id="{0766AACE-8239-A3FD-8A59-107DA0243CEE}"/>
              </a:ext>
            </a:extLst>
          </p:cNvPr>
          <p:cNvPicPr>
            <a:picLocks noGrp="1" noChangeAspect="1"/>
          </p:cNvPicPr>
          <p:nvPr>
            <p:ph type="pic" sz="quarter" idx="11"/>
          </p:nvPr>
        </p:nvPicPr>
        <p:blipFill>
          <a:blip r:embed="rId3"/>
          <a:srcRect l="72" r="329"/>
          <a:stretch>
            <a:fillRect/>
          </a:stretch>
        </p:blipFill>
        <p:spPr>
          <a:xfrm>
            <a:off x="5938683" y="672050"/>
            <a:ext cx="5703587" cy="5315796"/>
          </a:xfrm>
          <a:prstGeom prst="rect">
            <a:avLst/>
          </a:prstGeom>
          <a:solidFill>
            <a:srgbClr val="AAC3E8"/>
          </a:solidFill>
        </p:spPr>
      </p:pic>
    </p:spTree>
    <p:extLst>
      <p:ext uri="{BB962C8B-B14F-4D97-AF65-F5344CB8AC3E}">
        <p14:creationId xmlns:p14="http://schemas.microsoft.com/office/powerpoint/2010/main" val="3980289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4CD85-14C0-0A4D-DE0B-DDC2D5A24BE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B2D94D9-275A-FA09-D9C9-875EAAB6F068}"/>
              </a:ext>
            </a:extLst>
          </p:cNvPr>
          <p:cNvSpPr/>
          <p:nvPr/>
        </p:nvSpPr>
        <p:spPr>
          <a:xfrm>
            <a:off x="549729" y="672037"/>
            <a:ext cx="4561114" cy="59247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4B1349A-9C5B-9E8D-D25D-A93AAF98F661}"/>
              </a:ext>
            </a:extLst>
          </p:cNvPr>
          <p:cNvSpPr>
            <a:spLocks noGrp="1"/>
          </p:cNvSpPr>
          <p:nvPr>
            <p:ph type="title"/>
          </p:nvPr>
        </p:nvSpPr>
        <p:spPr>
          <a:xfrm>
            <a:off x="649454" y="-88602"/>
            <a:ext cx="11049000" cy="499382"/>
          </a:xfrm>
        </p:spPr>
        <p:txBody>
          <a:bodyPr/>
          <a:lstStyle/>
          <a:p>
            <a:pPr algn="ctr"/>
            <a:r>
              <a:rPr lang="en-US" sz="2400" dirty="0"/>
              <a:t>Kpi-5 : </a:t>
            </a:r>
            <a:r>
              <a:rPr lang="en-US" sz="2400" dirty="0" err="1"/>
              <a:t>Y</a:t>
            </a:r>
            <a:r>
              <a:rPr lang="en-US" sz="1800" dirty="0" err="1"/>
              <a:t>O</a:t>
            </a:r>
            <a:r>
              <a:rPr lang="en-US" sz="2400" dirty="0" err="1"/>
              <a:t>y</a:t>
            </a:r>
            <a:r>
              <a:rPr lang="en-US" sz="2400" dirty="0"/>
              <a:t> / m</a:t>
            </a:r>
            <a:r>
              <a:rPr lang="en-US" sz="1800" dirty="0"/>
              <a:t>o</a:t>
            </a:r>
            <a:r>
              <a:rPr lang="en-US" sz="2400" dirty="0"/>
              <a:t>m / </a:t>
            </a:r>
            <a:r>
              <a:rPr lang="en-US" sz="2400" dirty="0" err="1"/>
              <a:t>q</a:t>
            </a:r>
            <a:r>
              <a:rPr lang="en-US" sz="1800" dirty="0" err="1"/>
              <a:t>o</a:t>
            </a:r>
            <a:r>
              <a:rPr lang="en-US" sz="2400" dirty="0" err="1"/>
              <a:t>q</a:t>
            </a:r>
            <a:r>
              <a:rPr lang="en-US" sz="2400" dirty="0"/>
              <a:t> premium performance </a:t>
            </a:r>
          </a:p>
        </p:txBody>
      </p:sp>
      <p:sp>
        <p:nvSpPr>
          <p:cNvPr id="3" name="Text Placeholder 2">
            <a:extLst>
              <a:ext uri="{FF2B5EF4-FFF2-40B4-BE49-F238E27FC236}">
                <a16:creationId xmlns:a16="http://schemas.microsoft.com/office/drawing/2014/main" id="{887A7EE8-3080-EC75-F655-1851A765B502}"/>
              </a:ext>
            </a:extLst>
          </p:cNvPr>
          <p:cNvSpPr>
            <a:spLocks noGrp="1"/>
          </p:cNvSpPr>
          <p:nvPr>
            <p:ph idx="1"/>
          </p:nvPr>
        </p:nvSpPr>
        <p:spPr>
          <a:xfrm>
            <a:off x="457199" y="410781"/>
            <a:ext cx="4691745" cy="6447220"/>
          </a:xfrm>
          <a:solidFill>
            <a:srgbClr val="FDFAF6"/>
          </a:solidFill>
        </p:spPr>
        <p:txBody>
          <a:bodyPr>
            <a:normAutofit/>
          </a:bodyPr>
          <a:lstStyle/>
          <a:p>
            <a:pPr marL="285750" indent="-285750">
              <a:buFont typeface="Arial" panose="020B0604020202020204" pitchFamily="34" charset="0"/>
              <a:buChar char="•"/>
            </a:pPr>
            <a:endParaRPr lang="en-IN" sz="1600" dirty="0">
              <a:latin typeface="Aptos" panose="020B0004020202020204" pitchFamily="34" charset="0"/>
            </a:endParaRPr>
          </a:p>
          <a:p>
            <a:pPr marL="285750" indent="-285750">
              <a:buFont typeface="Arial" panose="020B0604020202020204" pitchFamily="34" charset="0"/>
              <a:buChar char="•"/>
            </a:pPr>
            <a:endParaRPr lang="en-IN" sz="1600" dirty="0">
              <a:latin typeface="Aptos" panose="020B0004020202020204" pitchFamily="34" charset="0"/>
            </a:endParaRPr>
          </a:p>
          <a:p>
            <a:pPr marL="285750" indent="-285750">
              <a:buFont typeface="Arial" panose="020B0604020202020204" pitchFamily="34" charset="0"/>
              <a:buChar char="•"/>
            </a:pPr>
            <a:r>
              <a:rPr lang="en-IN" sz="1600" dirty="0">
                <a:latin typeface="Aptos" panose="020B0004020202020204" pitchFamily="34" charset="0"/>
              </a:rPr>
              <a:t>YoY analysis shows a recent decline, with premium decreasing by 9.39% in 2023 and 6.70% in 2024.</a:t>
            </a:r>
          </a:p>
          <a:p>
            <a:pPr marL="285750" indent="-285750">
              <a:buFont typeface="Arial" panose="020B0604020202020204" pitchFamily="34" charset="0"/>
              <a:buChar char="•"/>
            </a:pPr>
            <a:endParaRPr lang="en-IN" sz="1600" b="1" dirty="0"/>
          </a:p>
          <a:p>
            <a:pPr marL="285750" indent="-285750">
              <a:buFont typeface="Arial" panose="020B0604020202020204" pitchFamily="34" charset="0"/>
              <a:buChar char="•"/>
            </a:pPr>
            <a:r>
              <a:rPr lang="en-IN" sz="1600" dirty="0">
                <a:latin typeface="Aptos" panose="020B0004020202020204" pitchFamily="34" charset="0"/>
              </a:rPr>
              <a:t>Overall, the YoY trend indicates a recent decline in premium growth, highlighting the need to identify the underlying factors and take corrective actions to improve future performance.</a:t>
            </a:r>
          </a:p>
          <a:p>
            <a:pPr marL="285750" indent="-285750">
              <a:buFont typeface="Arial" panose="020B0604020202020204" pitchFamily="34" charset="0"/>
              <a:buChar char="•"/>
            </a:pPr>
            <a:endParaRPr lang="en-IN" sz="1600" dirty="0">
              <a:latin typeface="Aptos" panose="020B0004020202020204" pitchFamily="34" charset="0"/>
            </a:endParaRPr>
          </a:p>
          <a:p>
            <a:pPr marL="285750" indent="-285750">
              <a:buFont typeface="Arial" panose="020B0604020202020204" pitchFamily="34" charset="0"/>
              <a:buChar char="•"/>
            </a:pPr>
            <a:r>
              <a:rPr lang="en-IN" sz="1600" dirty="0">
                <a:latin typeface="Aptos" panose="020B0004020202020204" pitchFamily="34" charset="0"/>
              </a:rPr>
              <a:t>Premium performance shows considerable volatility across monthly and quarterly periods.</a:t>
            </a:r>
          </a:p>
          <a:p>
            <a:pPr marL="285750" indent="-285750">
              <a:buFont typeface="Arial" panose="020B0604020202020204" pitchFamily="34" charset="0"/>
              <a:buChar char="•"/>
            </a:pPr>
            <a:endParaRPr lang="en-IN" sz="1600" dirty="0">
              <a:latin typeface="Aptos" panose="020B0004020202020204" pitchFamily="34" charset="0"/>
            </a:endParaRPr>
          </a:p>
          <a:p>
            <a:pPr marL="285750" indent="-285750">
              <a:buFont typeface="Arial" panose="020B0604020202020204" pitchFamily="34" charset="0"/>
              <a:buChar char="•"/>
            </a:pPr>
            <a:r>
              <a:rPr lang="en-IN" sz="1600" dirty="0">
                <a:latin typeface="Aptos" panose="020B0004020202020204" pitchFamily="34" charset="0"/>
              </a:rPr>
              <a:t>MoM growth peaked at 18.08% in December, while July recorded the sharpest decline of 18.30%.</a:t>
            </a:r>
          </a:p>
          <a:p>
            <a:pPr marL="285750" indent="-285750">
              <a:buFont typeface="Arial" panose="020B0604020202020204" pitchFamily="34" charset="0"/>
              <a:buChar char="•"/>
            </a:pPr>
            <a:endParaRPr lang="en-IN" sz="1600" dirty="0">
              <a:latin typeface="Aptos" panose="020B0004020202020204" pitchFamily="34" charset="0"/>
            </a:endParaRPr>
          </a:p>
          <a:p>
            <a:pPr marL="285750" indent="-285750">
              <a:buFont typeface="Arial" panose="020B0604020202020204" pitchFamily="34" charset="0"/>
              <a:buChar char="•"/>
            </a:pPr>
            <a:r>
              <a:rPr lang="en-IN" sz="1600" dirty="0">
                <a:latin typeface="Aptos" panose="020B0004020202020204" pitchFamily="34" charset="0"/>
              </a:rPr>
              <a:t>QoQ performance recovered strongly in Q4 with 9.91% growth after a 7.17% decline in Q3.</a:t>
            </a:r>
          </a:p>
          <a:p>
            <a:endParaRPr lang="en-IN" sz="1600" dirty="0">
              <a:latin typeface="Aptos" panose="020B0004020202020204" pitchFamily="34" charset="0"/>
            </a:endParaRPr>
          </a:p>
          <a:p>
            <a:pPr marL="285750" indent="-285750">
              <a:buFont typeface="Arial" panose="020B0604020202020204" pitchFamily="34" charset="0"/>
              <a:buChar char="•"/>
            </a:pPr>
            <a:r>
              <a:rPr lang="en-IN" sz="1600" dirty="0">
                <a:latin typeface="Aptos" panose="020B0004020202020204" pitchFamily="34" charset="0"/>
              </a:rPr>
              <a:t>This analysis is highlighting the need to investigate the factors affecting premium growth.</a:t>
            </a:r>
          </a:p>
          <a:p>
            <a:pPr marL="285750" indent="-285750">
              <a:buFont typeface="Arial" panose="020B0604020202020204" pitchFamily="34" charset="0"/>
              <a:buChar char="•"/>
            </a:pPr>
            <a:endParaRPr lang="en-US" sz="1600" dirty="0">
              <a:solidFill>
                <a:schemeClr val="tx1"/>
              </a:solidFill>
              <a:latin typeface="Aptos" panose="020B0004020202020204" pitchFamily="34" charset="0"/>
            </a:endParaRPr>
          </a:p>
        </p:txBody>
      </p:sp>
      <p:pic>
        <p:nvPicPr>
          <p:cNvPr id="8" name="Picture Placeholder 7">
            <a:extLst>
              <a:ext uri="{FF2B5EF4-FFF2-40B4-BE49-F238E27FC236}">
                <a16:creationId xmlns:a16="http://schemas.microsoft.com/office/drawing/2014/main" id="{9BF12033-294E-1CF2-ACA9-309709A7DC5A}"/>
              </a:ext>
            </a:extLst>
          </p:cNvPr>
          <p:cNvPicPr>
            <a:picLocks noGrp="1" noChangeAspect="1"/>
          </p:cNvPicPr>
          <p:nvPr>
            <p:ph type="pic" sz="quarter" idx="11"/>
          </p:nvPr>
        </p:nvPicPr>
        <p:blipFill>
          <a:blip r:embed="rId3"/>
          <a:srcRect l="210" r="120"/>
          <a:stretch>
            <a:fillRect/>
          </a:stretch>
        </p:blipFill>
        <p:spPr>
          <a:xfrm>
            <a:off x="6173954" y="570269"/>
            <a:ext cx="5083278" cy="2567057"/>
          </a:xfrm>
          <a:prstGeom prst="rect">
            <a:avLst/>
          </a:prstGeom>
          <a:solidFill>
            <a:srgbClr val="AAC3E8"/>
          </a:solidFill>
        </p:spPr>
      </p:pic>
      <p:pic>
        <p:nvPicPr>
          <p:cNvPr id="5" name="Picture 4">
            <a:extLst>
              <a:ext uri="{FF2B5EF4-FFF2-40B4-BE49-F238E27FC236}">
                <a16:creationId xmlns:a16="http://schemas.microsoft.com/office/drawing/2014/main" id="{509E9131-A868-EBDD-FD4D-B5FCDA66FDC6}"/>
              </a:ext>
            </a:extLst>
          </p:cNvPr>
          <p:cNvPicPr>
            <a:picLocks noChangeAspect="1"/>
          </p:cNvPicPr>
          <p:nvPr/>
        </p:nvPicPr>
        <p:blipFill>
          <a:blip r:embed="rId4"/>
          <a:stretch>
            <a:fillRect/>
          </a:stretch>
        </p:blipFill>
        <p:spPr>
          <a:xfrm>
            <a:off x="5169837" y="3491287"/>
            <a:ext cx="3481497" cy="2703035"/>
          </a:xfrm>
          <a:prstGeom prst="rect">
            <a:avLst/>
          </a:prstGeom>
        </p:spPr>
      </p:pic>
      <p:pic>
        <p:nvPicPr>
          <p:cNvPr id="7" name="Picture 6">
            <a:extLst>
              <a:ext uri="{FF2B5EF4-FFF2-40B4-BE49-F238E27FC236}">
                <a16:creationId xmlns:a16="http://schemas.microsoft.com/office/drawing/2014/main" id="{B8650791-2342-6F2B-9C38-660C242097E5}"/>
              </a:ext>
            </a:extLst>
          </p:cNvPr>
          <p:cNvPicPr>
            <a:picLocks noChangeAspect="1"/>
          </p:cNvPicPr>
          <p:nvPr/>
        </p:nvPicPr>
        <p:blipFill>
          <a:blip r:embed="rId5"/>
          <a:stretch>
            <a:fillRect/>
          </a:stretch>
        </p:blipFill>
        <p:spPr>
          <a:xfrm>
            <a:off x="8680830" y="3491287"/>
            <a:ext cx="3481497" cy="2703034"/>
          </a:xfrm>
          <a:prstGeom prst="rect">
            <a:avLst/>
          </a:prstGeom>
        </p:spPr>
      </p:pic>
    </p:spTree>
    <p:extLst>
      <p:ext uri="{BB962C8B-B14F-4D97-AF65-F5344CB8AC3E}">
        <p14:creationId xmlns:p14="http://schemas.microsoft.com/office/powerpoint/2010/main" val="1984739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98C0F-0AAF-E3EC-3EC2-9E24E60B693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BEFF863-9EC9-E020-C1E8-B1E5D3BD2E7E}"/>
              </a:ext>
            </a:extLst>
          </p:cNvPr>
          <p:cNvSpPr/>
          <p:nvPr/>
        </p:nvSpPr>
        <p:spPr>
          <a:xfrm>
            <a:off x="549729" y="672037"/>
            <a:ext cx="4561114" cy="59247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7613A646-8C05-35B6-EA12-8B42B122EEC6}"/>
              </a:ext>
            </a:extLst>
          </p:cNvPr>
          <p:cNvSpPr>
            <a:spLocks noGrp="1"/>
          </p:cNvSpPr>
          <p:nvPr>
            <p:ph type="title"/>
          </p:nvPr>
        </p:nvSpPr>
        <p:spPr>
          <a:xfrm>
            <a:off x="649454" y="-88602"/>
            <a:ext cx="11049000" cy="499382"/>
          </a:xfrm>
        </p:spPr>
        <p:txBody>
          <a:bodyPr/>
          <a:lstStyle/>
          <a:p>
            <a:pPr algn="ctr"/>
            <a:r>
              <a:rPr lang="en-US" sz="2400" dirty="0"/>
              <a:t>Kpi-6 : policies expiring this year</a:t>
            </a:r>
          </a:p>
        </p:txBody>
      </p:sp>
      <p:sp>
        <p:nvSpPr>
          <p:cNvPr id="3" name="Text Placeholder 2">
            <a:extLst>
              <a:ext uri="{FF2B5EF4-FFF2-40B4-BE49-F238E27FC236}">
                <a16:creationId xmlns:a16="http://schemas.microsoft.com/office/drawing/2014/main" id="{F9AD32DC-BC70-86A3-5B46-210DE1D26904}"/>
              </a:ext>
            </a:extLst>
          </p:cNvPr>
          <p:cNvSpPr>
            <a:spLocks noGrp="1"/>
          </p:cNvSpPr>
          <p:nvPr>
            <p:ph idx="1"/>
          </p:nvPr>
        </p:nvSpPr>
        <p:spPr>
          <a:xfrm>
            <a:off x="457199" y="410781"/>
            <a:ext cx="4691745" cy="6447220"/>
          </a:xfrm>
          <a:solidFill>
            <a:srgbClr val="FDFAF6"/>
          </a:solidFill>
        </p:spPr>
        <p:txBody>
          <a:bodyPr>
            <a:normAutofit/>
          </a:bodyPr>
          <a:lstStyle/>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endParaRPr lang="en-IN" sz="1600" dirty="0">
              <a:latin typeface="Aptos" panose="020B0004020202020204" pitchFamily="34" charset="0"/>
            </a:endParaRPr>
          </a:p>
          <a:p>
            <a:pPr lvl="0"/>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This KPI highlights the number of policies that are scheduled to expire during the current year. </a:t>
            </a: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This presents a valuable opportunity for the company, as there is still sufficient time to proactively approach these customers and encourage policy renewals. </a:t>
            </a: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The company should prioritize these policies and ensure that potential renewals are not lost.</a:t>
            </a:r>
          </a:p>
          <a:p>
            <a:pPr lvl="0"/>
            <a:r>
              <a:rPr lang="en-IN" sz="1600" dirty="0">
                <a:latin typeface="Aptos" panose="020B0004020202020204" pitchFamily="34" charset="0"/>
              </a:rPr>
              <a:t> </a:t>
            </a:r>
          </a:p>
          <a:p>
            <a:pPr marL="285750" lvl="0" indent="-285750">
              <a:buFont typeface="Arial" panose="020B0604020202020204" pitchFamily="34" charset="0"/>
              <a:buChar char="•"/>
            </a:pPr>
            <a:r>
              <a:rPr lang="en-IN" sz="1600" dirty="0">
                <a:latin typeface="Aptos" panose="020B0004020202020204" pitchFamily="34" charset="0"/>
              </a:rPr>
              <a:t>The renewal team should take proactive action, engage with customers well before their expiry dates, and maximize the policy renewal rate.</a:t>
            </a:r>
          </a:p>
          <a:p>
            <a:pPr marL="285750" indent="-285750">
              <a:buFont typeface="Arial" panose="020B0604020202020204" pitchFamily="34" charset="0"/>
              <a:buChar char="•"/>
            </a:pPr>
            <a:endParaRPr lang="en-US" sz="1600" dirty="0">
              <a:latin typeface="Aptos" panose="020B0004020202020204" pitchFamily="34" charset="0"/>
            </a:endParaRPr>
          </a:p>
        </p:txBody>
      </p:sp>
      <p:pic>
        <p:nvPicPr>
          <p:cNvPr id="8" name="Picture Placeholder 7">
            <a:extLst>
              <a:ext uri="{FF2B5EF4-FFF2-40B4-BE49-F238E27FC236}">
                <a16:creationId xmlns:a16="http://schemas.microsoft.com/office/drawing/2014/main" id="{356D79A6-7370-4FE9-EA29-5A6EA867B6CB}"/>
              </a:ext>
            </a:extLst>
          </p:cNvPr>
          <p:cNvPicPr>
            <a:picLocks noGrp="1" noChangeAspect="1"/>
          </p:cNvPicPr>
          <p:nvPr>
            <p:ph type="pic" sz="quarter" idx="11"/>
          </p:nvPr>
        </p:nvPicPr>
        <p:blipFill>
          <a:blip r:embed="rId3"/>
          <a:srcRect l="21631" r="21631"/>
          <a:stretch/>
        </p:blipFill>
        <p:spPr>
          <a:xfrm>
            <a:off x="6751547" y="1047135"/>
            <a:ext cx="4615419" cy="4301614"/>
          </a:xfrm>
          <a:prstGeom prst="rect">
            <a:avLst/>
          </a:prstGeom>
          <a:solidFill>
            <a:srgbClr val="AAC3E8"/>
          </a:solidFill>
        </p:spPr>
      </p:pic>
    </p:spTree>
    <p:extLst>
      <p:ext uri="{BB962C8B-B14F-4D97-AF65-F5344CB8AC3E}">
        <p14:creationId xmlns:p14="http://schemas.microsoft.com/office/powerpoint/2010/main" val="86707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2ED74-AC38-63D9-6E70-319FE3270E6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6E2A8FB-5D4F-9975-040C-77E9ABB68AF1}"/>
              </a:ext>
            </a:extLst>
          </p:cNvPr>
          <p:cNvSpPr/>
          <p:nvPr/>
        </p:nvSpPr>
        <p:spPr>
          <a:xfrm>
            <a:off x="549729" y="672037"/>
            <a:ext cx="4561114" cy="59247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2BCDC59-29B8-0AEE-BE28-07ECD24489A9}"/>
              </a:ext>
            </a:extLst>
          </p:cNvPr>
          <p:cNvSpPr>
            <a:spLocks noGrp="1"/>
          </p:cNvSpPr>
          <p:nvPr>
            <p:ph type="title"/>
          </p:nvPr>
        </p:nvSpPr>
        <p:spPr>
          <a:xfrm>
            <a:off x="649454" y="-88602"/>
            <a:ext cx="11049000" cy="499382"/>
          </a:xfrm>
        </p:spPr>
        <p:txBody>
          <a:bodyPr/>
          <a:lstStyle/>
          <a:p>
            <a:pPr algn="ctr"/>
            <a:r>
              <a:rPr lang="en-US" sz="2400" dirty="0"/>
              <a:t>Kpi-7 : Customers holding multiple policies</a:t>
            </a:r>
          </a:p>
        </p:txBody>
      </p:sp>
      <p:sp>
        <p:nvSpPr>
          <p:cNvPr id="3" name="Text Placeholder 2">
            <a:extLst>
              <a:ext uri="{FF2B5EF4-FFF2-40B4-BE49-F238E27FC236}">
                <a16:creationId xmlns:a16="http://schemas.microsoft.com/office/drawing/2014/main" id="{15A9F072-6DC9-2FAB-9AE6-A2E39BFE53C0}"/>
              </a:ext>
            </a:extLst>
          </p:cNvPr>
          <p:cNvSpPr>
            <a:spLocks noGrp="1"/>
          </p:cNvSpPr>
          <p:nvPr>
            <p:ph idx="1"/>
          </p:nvPr>
        </p:nvSpPr>
        <p:spPr>
          <a:xfrm>
            <a:off x="457199" y="410781"/>
            <a:ext cx="4691745" cy="6447220"/>
          </a:xfrm>
          <a:solidFill>
            <a:srgbClr val="FDFAF6"/>
          </a:solidFill>
        </p:spPr>
        <p:txBody>
          <a:bodyPr>
            <a:normAutofit/>
          </a:bodyPr>
          <a:lstStyle/>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The analysis shows that 3,148 customers hold multiple policies, making them a highly valuable and loyal customer segment. </a:t>
            </a: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Since these customers already demonstrate a strong level of trust and engagement with the company, they represent a significant opportunity for cross-selling and upselling. </a:t>
            </a: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The company can introduce personalized offers, discounts, loyalty benefits, or bundled policies to encourage these customers to purchase additional products. </a:t>
            </a:r>
          </a:p>
          <a:p>
            <a:pPr marL="285750" lvl="0" indent="-285750">
              <a:buFont typeface="Arial" panose="020B0604020202020204" pitchFamily="34" charset="0"/>
              <a:buChar char="•"/>
            </a:pPr>
            <a:endParaRPr lang="en-IN" sz="1600" dirty="0">
              <a:latin typeface="Aptos" panose="020B0004020202020204" pitchFamily="34" charset="0"/>
            </a:endParaRPr>
          </a:p>
          <a:p>
            <a:pPr marL="285750" lvl="0" indent="-285750">
              <a:buFont typeface="Arial" panose="020B0604020202020204" pitchFamily="34" charset="0"/>
              <a:buChar char="•"/>
            </a:pPr>
            <a:r>
              <a:rPr lang="en-IN" sz="1600" dirty="0">
                <a:latin typeface="Aptos" panose="020B0004020202020204" pitchFamily="34" charset="0"/>
              </a:rPr>
              <a:t>Focusing on this segment can help the company strengthen customer relationships, increase policy sales, and generate additional revenue. </a:t>
            </a:r>
          </a:p>
          <a:p>
            <a:pPr marL="285750" indent="-285750">
              <a:buFont typeface="Arial" panose="020B0604020202020204" pitchFamily="34" charset="0"/>
              <a:buChar char="•"/>
            </a:pPr>
            <a:endParaRPr lang="en-US" sz="1600" dirty="0">
              <a:solidFill>
                <a:schemeClr val="tx1"/>
              </a:solidFill>
              <a:latin typeface="Aptos" panose="020B0004020202020204" pitchFamily="34" charset="0"/>
            </a:endParaRPr>
          </a:p>
        </p:txBody>
      </p:sp>
      <p:pic>
        <p:nvPicPr>
          <p:cNvPr id="8" name="Picture Placeholder 7">
            <a:extLst>
              <a:ext uri="{FF2B5EF4-FFF2-40B4-BE49-F238E27FC236}">
                <a16:creationId xmlns:a16="http://schemas.microsoft.com/office/drawing/2014/main" id="{BDA068C4-B413-3A70-C732-F3D32C5FA06A}"/>
              </a:ext>
            </a:extLst>
          </p:cNvPr>
          <p:cNvPicPr>
            <a:picLocks noGrp="1" noChangeAspect="1"/>
          </p:cNvPicPr>
          <p:nvPr>
            <p:ph type="pic" sz="quarter" idx="11"/>
          </p:nvPr>
        </p:nvPicPr>
        <p:blipFill>
          <a:blip r:embed="rId3"/>
          <a:srcRect l="21745" r="21745"/>
          <a:stretch/>
        </p:blipFill>
        <p:spPr>
          <a:xfrm>
            <a:off x="6751548" y="1047135"/>
            <a:ext cx="4615419" cy="4301614"/>
          </a:xfrm>
          <a:prstGeom prst="rect">
            <a:avLst/>
          </a:prstGeom>
          <a:solidFill>
            <a:srgbClr val="AAC3E8"/>
          </a:solidFill>
        </p:spPr>
      </p:pic>
    </p:spTree>
    <p:extLst>
      <p:ext uri="{BB962C8B-B14F-4D97-AF65-F5344CB8AC3E}">
        <p14:creationId xmlns:p14="http://schemas.microsoft.com/office/powerpoint/2010/main" val="1195062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4400" y="457199"/>
            <a:ext cx="7631709" cy="691207"/>
          </a:xfrm>
        </p:spPr>
        <p:txBody>
          <a:bodyPr/>
          <a:lstStyle/>
          <a:p>
            <a:pPr algn="ctr"/>
            <a:r>
              <a:rPr lang="en-US" dirty="0"/>
              <a:t>recommendations</a:t>
            </a:r>
          </a:p>
        </p:txBody>
      </p:sp>
      <p:pic>
        <p:nvPicPr>
          <p:cNvPr id="10" name="Picture Placeholder 9">
            <a:extLst>
              <a:ext uri="{FF2B5EF4-FFF2-40B4-BE49-F238E27FC236}">
                <a16:creationId xmlns:a16="http://schemas.microsoft.com/office/drawing/2014/main" id="{DD0A0899-5B02-CEB5-E5DD-448B169C2377}"/>
              </a:ext>
            </a:extLst>
          </p:cNvPr>
          <p:cNvPicPr>
            <a:picLocks noGrp="1" noChangeAspect="1"/>
          </p:cNvPicPr>
          <p:nvPr>
            <p:ph type="pic" sz="quarter" idx="14"/>
          </p:nvPr>
        </p:nvPicPr>
        <p:blipFill rotWithShape="1">
          <a:blip r:embed="rId3">
            <a:duotone>
              <a:prstClr val="black"/>
              <a:schemeClr val="accent1">
                <a:tint val="45000"/>
                <a:satMod val="400000"/>
              </a:schemeClr>
            </a:duotone>
          </a:blip>
          <a:srcRect l="389" r="498"/>
          <a:stretch>
            <a:fillRect/>
          </a:stretch>
        </p:blipFill>
        <p:spPr>
          <a:xfrm>
            <a:off x="8993529" y="965393"/>
            <a:ext cx="3198471" cy="5892607"/>
          </a:xfrm>
        </p:spPr>
      </p:pic>
      <p:sp>
        <p:nvSpPr>
          <p:cNvPr id="5" name="Content Placeholder 4">
            <a:extLst>
              <a:ext uri="{FF2B5EF4-FFF2-40B4-BE49-F238E27FC236}">
                <a16:creationId xmlns:a16="http://schemas.microsoft.com/office/drawing/2014/main" id="{236555C3-AD5D-E8C6-28E9-1B734707DBAE}"/>
              </a:ext>
            </a:extLst>
          </p:cNvPr>
          <p:cNvSpPr>
            <a:spLocks noGrp="1"/>
          </p:cNvSpPr>
          <p:nvPr>
            <p:ph sz="half" idx="15"/>
          </p:nvPr>
        </p:nvSpPr>
        <p:spPr>
          <a:xfrm>
            <a:off x="555586" y="1148407"/>
            <a:ext cx="8299048" cy="5298814"/>
          </a:xfrm>
        </p:spPr>
        <p:txBody>
          <a:bodyPr>
            <a:normAutofit fontScale="85000" lnSpcReduction="10000"/>
          </a:bodyPr>
          <a:lstStyle/>
          <a:p>
            <a:pPr marL="0" indent="0" algn="ctr">
              <a:buNone/>
            </a:pPr>
            <a:r>
              <a:rPr lang="en-IN" dirty="0">
                <a:latin typeface="Aptos" panose="020B0004020202020204" pitchFamily="34" charset="0"/>
              </a:rPr>
              <a:t>After analysing the data, several areas stand out as opportunities for improving the company's performance and revenue:</a:t>
            </a:r>
          </a:p>
          <a:p>
            <a:pPr marL="0" indent="0">
              <a:buNone/>
            </a:pPr>
            <a:endParaRPr lang="en-IN" dirty="0">
              <a:latin typeface="Aptos" panose="020B0004020202020204" pitchFamily="34" charset="0"/>
            </a:endParaRPr>
          </a:p>
          <a:p>
            <a:pPr marL="285750" lvl="0" indent="-285750">
              <a:buFont typeface="Arial" panose="020B0604020202020204" pitchFamily="34" charset="0"/>
              <a:buChar char="•"/>
            </a:pPr>
            <a:r>
              <a:rPr lang="en-IN" b="1" dirty="0">
                <a:latin typeface="Aptos" panose="020B0004020202020204" pitchFamily="34" charset="0"/>
              </a:rPr>
              <a:t>Focus on Expiring Policies </a:t>
            </a:r>
            <a:r>
              <a:rPr lang="en-IN" dirty="0">
                <a:latin typeface="Aptos" panose="020B0004020202020204" pitchFamily="34" charset="0"/>
              </a:rPr>
              <a:t>– Proactively contact customers whose policies are expiring this year and encourage timely renewals to prevent customer and revenue loss. </a:t>
            </a:r>
          </a:p>
          <a:p>
            <a:pPr marL="285750" lvl="0" indent="-285750">
              <a:buFont typeface="Arial" panose="020B0604020202020204" pitchFamily="34" charset="0"/>
              <a:buChar char="•"/>
            </a:pPr>
            <a:r>
              <a:rPr lang="en-IN" b="1" dirty="0">
                <a:latin typeface="Aptos" panose="020B0004020202020204" pitchFamily="34" charset="0"/>
              </a:rPr>
              <a:t>Reduce Failed Payments </a:t>
            </a:r>
            <a:r>
              <a:rPr lang="en-IN" dirty="0">
                <a:latin typeface="Aptos" panose="020B0004020202020204" pitchFamily="34" charset="0"/>
              </a:rPr>
              <a:t>– The high number of failed payments is a major concern. The company should identify the root causes and improve the payment process to increase the successful payment rate. </a:t>
            </a:r>
          </a:p>
          <a:p>
            <a:pPr marL="285750" lvl="0" indent="-285750">
              <a:buFont typeface="Arial" panose="020B0604020202020204" pitchFamily="34" charset="0"/>
              <a:buChar char="•"/>
            </a:pPr>
            <a:r>
              <a:rPr lang="en-IN" b="1" dirty="0">
                <a:latin typeface="Aptos" panose="020B0004020202020204" pitchFamily="34" charset="0"/>
              </a:rPr>
              <a:t>Reactivate Inactive/Lapsed Policies </a:t>
            </a:r>
            <a:r>
              <a:rPr lang="en-IN" dirty="0">
                <a:latin typeface="Aptos" panose="020B0004020202020204" pitchFamily="34" charset="0"/>
              </a:rPr>
              <a:t>– The company should strengthen its renewal and retention efforts by offering suitable discounts, incentives, or personalized plans to bring inactive policies back into the active category. </a:t>
            </a:r>
          </a:p>
          <a:p>
            <a:pPr marL="285750" lvl="0" indent="-285750">
              <a:buFont typeface="Arial" panose="020B0604020202020204" pitchFamily="34" charset="0"/>
              <a:buChar char="•"/>
            </a:pPr>
            <a:r>
              <a:rPr lang="en-IN" b="1" dirty="0">
                <a:latin typeface="Aptos" panose="020B0004020202020204" pitchFamily="34" charset="0"/>
              </a:rPr>
              <a:t>Target Younger Customers </a:t>
            </a:r>
            <a:r>
              <a:rPr lang="en-IN" dirty="0">
                <a:latin typeface="Aptos" panose="020B0004020202020204" pitchFamily="34" charset="0"/>
              </a:rPr>
              <a:t>– The company should focus more on younger customers by offering affordable and attractive insurance plans. Building relationships with them early can create a long-term customer base. </a:t>
            </a:r>
          </a:p>
          <a:p>
            <a:pPr marL="285750" lvl="0" indent="-285750">
              <a:buFont typeface="Arial" panose="020B0604020202020204" pitchFamily="34" charset="0"/>
              <a:buChar char="•"/>
            </a:pPr>
            <a:r>
              <a:rPr lang="en-IN" b="1" dirty="0">
                <a:latin typeface="Aptos" panose="020B0004020202020204" pitchFamily="34" charset="0"/>
              </a:rPr>
              <a:t>Improve YoY Growth </a:t>
            </a:r>
            <a:r>
              <a:rPr lang="en-IN" dirty="0">
                <a:latin typeface="Aptos" panose="020B0004020202020204" pitchFamily="34" charset="0"/>
              </a:rPr>
              <a:t>– The company's weak YoY performance indicates a need to improve both customer retention and new policy acquisition. Implementing the above strategies can contribute to stronger year-over-year growth. </a:t>
            </a:r>
          </a:p>
          <a:p>
            <a:pPr marL="285750" lvl="0" indent="-285750">
              <a:buFont typeface="Arial" panose="020B0604020202020204" pitchFamily="34" charset="0"/>
              <a:buChar char="•"/>
            </a:pPr>
            <a:r>
              <a:rPr lang="en-IN" b="1" dirty="0">
                <a:latin typeface="Aptos" panose="020B0004020202020204" pitchFamily="34" charset="0"/>
              </a:rPr>
              <a:t>Improve Claim Settlement Experience </a:t>
            </a:r>
            <a:r>
              <a:rPr lang="en-IN" dirty="0">
                <a:latin typeface="Aptos" panose="020B0004020202020204" pitchFamily="34" charset="0"/>
              </a:rPr>
              <a:t>– Only 1,712 claims are approved, which may indicate an area requiring attention. A low approval rate or slow claim experience could negatively affect customer trust and discourage potential customers from purchasing policies. The company should investigate the reasons behind rejected claims and improve the overall claims process.</a:t>
            </a:r>
          </a:p>
          <a:p>
            <a:endParaRPr lang="en-IN" dirty="0">
              <a:latin typeface="Aptos" panose="020B0004020202020204" pitchFamily="34" charset="0"/>
            </a:endParaRPr>
          </a:p>
        </p:txBody>
      </p:sp>
    </p:spTree>
    <p:extLst>
      <p:ext uri="{BB962C8B-B14F-4D97-AF65-F5344CB8AC3E}">
        <p14:creationId xmlns:p14="http://schemas.microsoft.com/office/powerpoint/2010/main" val="1941619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840186" y="593725"/>
            <a:ext cx="10511627" cy="614885"/>
          </a:xfrm>
        </p:spPr>
        <p:txBody>
          <a:bodyPr/>
          <a:lstStyle/>
          <a:p>
            <a:r>
              <a:rPr lang="en-US" dirty="0"/>
              <a:t>Excel dashboard</a:t>
            </a:r>
          </a:p>
        </p:txBody>
      </p:sp>
      <p:pic>
        <p:nvPicPr>
          <p:cNvPr id="8" name="Content Placeholder 7">
            <a:extLst>
              <a:ext uri="{FF2B5EF4-FFF2-40B4-BE49-F238E27FC236}">
                <a16:creationId xmlns:a16="http://schemas.microsoft.com/office/drawing/2014/main" id="{C56B0F64-79F6-DC65-3C6A-9ADB9C41C00A}"/>
              </a:ext>
            </a:extLst>
          </p:cNvPr>
          <p:cNvPicPr>
            <a:picLocks noGrp="1" noChangeAspect="1"/>
          </p:cNvPicPr>
          <p:nvPr>
            <p:ph sz="quarter" idx="4"/>
          </p:nvPr>
        </p:nvPicPr>
        <p:blipFill>
          <a:blip r:embed="rId3"/>
          <a:stretch>
            <a:fillRect/>
          </a:stretch>
        </p:blipFill>
        <p:spPr>
          <a:xfrm>
            <a:off x="630052" y="1254680"/>
            <a:ext cx="10883521" cy="5009595"/>
          </a:xfrm>
          <a:prstGeom prst="rect">
            <a:avLst/>
          </a:prstGeom>
        </p:spPr>
      </p:pic>
    </p:spTree>
    <p:extLst>
      <p:ext uri="{BB962C8B-B14F-4D97-AF65-F5344CB8AC3E}">
        <p14:creationId xmlns:p14="http://schemas.microsoft.com/office/powerpoint/2010/main" val="1686213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44C22-AB20-AE3E-ABF8-D0747E3EF5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3D8D0-5D04-FCA7-A804-F2855E33C765}"/>
              </a:ext>
            </a:extLst>
          </p:cNvPr>
          <p:cNvSpPr>
            <a:spLocks noGrp="1"/>
          </p:cNvSpPr>
          <p:nvPr>
            <p:ph type="title"/>
          </p:nvPr>
        </p:nvSpPr>
        <p:spPr>
          <a:xfrm>
            <a:off x="840186" y="593725"/>
            <a:ext cx="10511627" cy="614885"/>
          </a:xfrm>
        </p:spPr>
        <p:txBody>
          <a:bodyPr/>
          <a:lstStyle/>
          <a:p>
            <a:r>
              <a:rPr lang="en-US" dirty="0"/>
              <a:t>Power bi dashboard</a:t>
            </a:r>
          </a:p>
        </p:txBody>
      </p:sp>
      <p:pic>
        <p:nvPicPr>
          <p:cNvPr id="6" name="Content Placeholder 5">
            <a:extLst>
              <a:ext uri="{FF2B5EF4-FFF2-40B4-BE49-F238E27FC236}">
                <a16:creationId xmlns:a16="http://schemas.microsoft.com/office/drawing/2014/main" id="{24419E51-E714-9E18-64D1-EB122AC4AA97}"/>
              </a:ext>
            </a:extLst>
          </p:cNvPr>
          <p:cNvPicPr>
            <a:picLocks noGrp="1" noChangeAspect="1"/>
          </p:cNvPicPr>
          <p:nvPr>
            <p:ph sz="quarter" idx="4"/>
          </p:nvPr>
        </p:nvPicPr>
        <p:blipFill>
          <a:blip r:embed="rId3"/>
          <a:stretch>
            <a:fillRect/>
          </a:stretch>
        </p:blipFill>
        <p:spPr>
          <a:xfrm>
            <a:off x="580102" y="2431582"/>
            <a:ext cx="5515897" cy="3155115"/>
          </a:xfrm>
          <a:prstGeom prst="rect">
            <a:avLst/>
          </a:prstGeom>
        </p:spPr>
      </p:pic>
      <p:pic>
        <p:nvPicPr>
          <p:cNvPr id="9" name="Picture 8">
            <a:extLst>
              <a:ext uri="{FF2B5EF4-FFF2-40B4-BE49-F238E27FC236}">
                <a16:creationId xmlns:a16="http://schemas.microsoft.com/office/drawing/2014/main" id="{BC791C99-6D0D-4907-7251-7A9660C8F401}"/>
              </a:ext>
            </a:extLst>
          </p:cNvPr>
          <p:cNvPicPr>
            <a:picLocks noChangeAspect="1"/>
          </p:cNvPicPr>
          <p:nvPr/>
        </p:nvPicPr>
        <p:blipFill>
          <a:blip r:embed="rId4"/>
          <a:stretch>
            <a:fillRect/>
          </a:stretch>
        </p:blipFill>
        <p:spPr>
          <a:xfrm>
            <a:off x="6303547" y="2431582"/>
            <a:ext cx="5308351" cy="3155115"/>
          </a:xfrm>
          <a:prstGeom prst="rect">
            <a:avLst/>
          </a:prstGeom>
        </p:spPr>
      </p:pic>
    </p:spTree>
    <p:extLst>
      <p:ext uri="{BB962C8B-B14F-4D97-AF65-F5344CB8AC3E}">
        <p14:creationId xmlns:p14="http://schemas.microsoft.com/office/powerpoint/2010/main" val="2299251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21592-88DF-2816-3092-29BE653516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63C85-0AD6-837B-D17B-B40BF265A02A}"/>
              </a:ext>
            </a:extLst>
          </p:cNvPr>
          <p:cNvSpPr>
            <a:spLocks noGrp="1"/>
          </p:cNvSpPr>
          <p:nvPr>
            <p:ph type="title"/>
          </p:nvPr>
        </p:nvSpPr>
        <p:spPr>
          <a:xfrm>
            <a:off x="840186" y="593725"/>
            <a:ext cx="10511627" cy="614885"/>
          </a:xfrm>
        </p:spPr>
        <p:txBody>
          <a:bodyPr/>
          <a:lstStyle/>
          <a:p>
            <a:r>
              <a:rPr lang="en-US" dirty="0"/>
              <a:t>tableau dashboard</a:t>
            </a:r>
          </a:p>
        </p:txBody>
      </p:sp>
      <p:pic>
        <p:nvPicPr>
          <p:cNvPr id="6" name="Content Placeholder 5">
            <a:extLst>
              <a:ext uri="{FF2B5EF4-FFF2-40B4-BE49-F238E27FC236}">
                <a16:creationId xmlns:a16="http://schemas.microsoft.com/office/drawing/2014/main" id="{5AAF9A14-61B2-CC45-4F8C-FF5163CE0B15}"/>
              </a:ext>
            </a:extLst>
          </p:cNvPr>
          <p:cNvPicPr>
            <a:picLocks noGrp="1" noChangeAspect="1"/>
          </p:cNvPicPr>
          <p:nvPr>
            <p:ph sz="quarter" idx="4"/>
          </p:nvPr>
        </p:nvPicPr>
        <p:blipFill>
          <a:blip r:embed="rId3"/>
          <a:srcRect/>
          <a:stretch/>
        </p:blipFill>
        <p:spPr>
          <a:xfrm>
            <a:off x="580102" y="2431582"/>
            <a:ext cx="5515897" cy="3155115"/>
          </a:xfrm>
          <a:prstGeom prst="rect">
            <a:avLst/>
          </a:prstGeom>
        </p:spPr>
      </p:pic>
      <p:pic>
        <p:nvPicPr>
          <p:cNvPr id="9" name="Picture 8">
            <a:extLst>
              <a:ext uri="{FF2B5EF4-FFF2-40B4-BE49-F238E27FC236}">
                <a16:creationId xmlns:a16="http://schemas.microsoft.com/office/drawing/2014/main" id="{F263C4FD-2CD2-8A08-9896-D442C38FE2BC}"/>
              </a:ext>
            </a:extLst>
          </p:cNvPr>
          <p:cNvPicPr>
            <a:picLocks noChangeAspect="1"/>
          </p:cNvPicPr>
          <p:nvPr/>
        </p:nvPicPr>
        <p:blipFill>
          <a:blip r:embed="rId4"/>
          <a:srcRect/>
          <a:stretch/>
        </p:blipFill>
        <p:spPr>
          <a:xfrm>
            <a:off x="6303547" y="2431582"/>
            <a:ext cx="5308351" cy="3155115"/>
          </a:xfrm>
          <a:prstGeom prst="rect">
            <a:avLst/>
          </a:prstGeom>
        </p:spPr>
      </p:pic>
    </p:spTree>
    <p:extLst>
      <p:ext uri="{BB962C8B-B14F-4D97-AF65-F5344CB8AC3E}">
        <p14:creationId xmlns:p14="http://schemas.microsoft.com/office/powerpoint/2010/main" val="719072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C6C3D-9102-EA2B-D5B4-0D7CB450E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F4F7F5-0267-0C84-95FC-ECC5096858C8}"/>
              </a:ext>
            </a:extLst>
          </p:cNvPr>
          <p:cNvSpPr>
            <a:spLocks noGrp="1"/>
          </p:cNvSpPr>
          <p:nvPr>
            <p:ph type="title"/>
          </p:nvPr>
        </p:nvSpPr>
        <p:spPr>
          <a:xfrm>
            <a:off x="840186" y="459465"/>
            <a:ext cx="10511627" cy="614885"/>
          </a:xfrm>
        </p:spPr>
        <p:txBody>
          <a:bodyPr/>
          <a:lstStyle/>
          <a:p>
            <a:r>
              <a:rPr lang="en-US" dirty="0" err="1">
                <a:latin typeface="Arial Black" panose="020B0A04020102020204" pitchFamily="34" charset="0"/>
              </a:rPr>
              <a:t>M</a:t>
            </a:r>
            <a:r>
              <a:rPr lang="en-US" sz="2400" dirty="0" err="1">
                <a:latin typeface="Arial Black" panose="020B0A04020102020204" pitchFamily="34" charset="0"/>
              </a:rPr>
              <a:t>y</a:t>
            </a:r>
            <a:r>
              <a:rPr lang="en-US" dirty="0" err="1">
                <a:latin typeface="Arial Black" panose="020B0A04020102020204" pitchFamily="34" charset="0"/>
              </a:rPr>
              <a:t>s</a:t>
            </a:r>
            <a:r>
              <a:rPr lang="en-US" sz="2400" dirty="0" err="1">
                <a:latin typeface="Arial Black" panose="020B0A04020102020204" pitchFamily="34" charset="0"/>
              </a:rPr>
              <a:t>ql</a:t>
            </a:r>
            <a:r>
              <a:rPr lang="en-US" sz="2400" dirty="0">
                <a:latin typeface="Arial Black" panose="020B0A04020102020204" pitchFamily="34" charset="0"/>
              </a:rPr>
              <a:t> </a:t>
            </a:r>
            <a:r>
              <a:rPr lang="en-US" dirty="0">
                <a:latin typeface="Arial Black" panose="020B0A04020102020204" pitchFamily="34" charset="0"/>
              </a:rPr>
              <a:t>queries</a:t>
            </a:r>
          </a:p>
        </p:txBody>
      </p:sp>
      <p:pic>
        <p:nvPicPr>
          <p:cNvPr id="22" name="Picture 21">
            <a:extLst>
              <a:ext uri="{FF2B5EF4-FFF2-40B4-BE49-F238E27FC236}">
                <a16:creationId xmlns:a16="http://schemas.microsoft.com/office/drawing/2014/main" id="{6118670E-581E-EB1A-985C-00CC7D88891C}"/>
              </a:ext>
            </a:extLst>
          </p:cNvPr>
          <p:cNvPicPr>
            <a:picLocks noChangeAspect="1"/>
          </p:cNvPicPr>
          <p:nvPr/>
        </p:nvPicPr>
        <p:blipFill>
          <a:blip r:embed="rId3"/>
          <a:stretch>
            <a:fillRect/>
          </a:stretch>
        </p:blipFill>
        <p:spPr>
          <a:xfrm>
            <a:off x="8832979" y="4116599"/>
            <a:ext cx="3139712" cy="1889924"/>
          </a:xfrm>
          <a:prstGeom prst="rect">
            <a:avLst/>
          </a:prstGeom>
          <a:ln>
            <a:solidFill>
              <a:schemeClr val="bg1">
                <a:lumMod val="90000"/>
              </a:schemeClr>
            </a:solidFill>
          </a:ln>
        </p:spPr>
      </p:pic>
      <p:pic>
        <p:nvPicPr>
          <p:cNvPr id="24" name="Picture 23">
            <a:extLst>
              <a:ext uri="{FF2B5EF4-FFF2-40B4-BE49-F238E27FC236}">
                <a16:creationId xmlns:a16="http://schemas.microsoft.com/office/drawing/2014/main" id="{591ADE09-86FF-3ACC-7AB2-DCF36E2E6203}"/>
              </a:ext>
            </a:extLst>
          </p:cNvPr>
          <p:cNvPicPr>
            <a:picLocks noChangeAspect="1"/>
          </p:cNvPicPr>
          <p:nvPr/>
        </p:nvPicPr>
        <p:blipFill>
          <a:blip r:embed="rId4"/>
          <a:stretch>
            <a:fillRect/>
          </a:stretch>
        </p:blipFill>
        <p:spPr>
          <a:xfrm>
            <a:off x="4653023" y="4189347"/>
            <a:ext cx="3958542" cy="1181202"/>
          </a:xfrm>
          <a:prstGeom prst="rect">
            <a:avLst/>
          </a:prstGeom>
          <a:ln>
            <a:solidFill>
              <a:schemeClr val="bg1">
                <a:lumMod val="90000"/>
              </a:schemeClr>
            </a:solidFill>
          </a:ln>
        </p:spPr>
      </p:pic>
      <p:pic>
        <p:nvPicPr>
          <p:cNvPr id="26" name="Picture 25">
            <a:extLst>
              <a:ext uri="{FF2B5EF4-FFF2-40B4-BE49-F238E27FC236}">
                <a16:creationId xmlns:a16="http://schemas.microsoft.com/office/drawing/2014/main" id="{1323F175-1691-B620-F0D8-EFDBE371EA2F}"/>
              </a:ext>
            </a:extLst>
          </p:cNvPr>
          <p:cNvPicPr>
            <a:picLocks noChangeAspect="1"/>
          </p:cNvPicPr>
          <p:nvPr/>
        </p:nvPicPr>
        <p:blipFill>
          <a:blip r:embed="rId5"/>
          <a:stretch>
            <a:fillRect/>
          </a:stretch>
        </p:blipFill>
        <p:spPr>
          <a:xfrm>
            <a:off x="219309" y="3892966"/>
            <a:ext cx="4352691" cy="2004234"/>
          </a:xfrm>
          <a:prstGeom prst="rect">
            <a:avLst/>
          </a:prstGeom>
          <a:ln>
            <a:solidFill>
              <a:schemeClr val="bg1">
                <a:lumMod val="90000"/>
              </a:schemeClr>
            </a:solidFill>
          </a:ln>
        </p:spPr>
      </p:pic>
      <p:pic>
        <p:nvPicPr>
          <p:cNvPr id="28" name="Picture 27">
            <a:extLst>
              <a:ext uri="{FF2B5EF4-FFF2-40B4-BE49-F238E27FC236}">
                <a16:creationId xmlns:a16="http://schemas.microsoft.com/office/drawing/2014/main" id="{871E9620-B105-A80D-3193-C1ADED415A31}"/>
              </a:ext>
            </a:extLst>
          </p:cNvPr>
          <p:cNvPicPr>
            <a:picLocks noChangeAspect="1"/>
          </p:cNvPicPr>
          <p:nvPr/>
        </p:nvPicPr>
        <p:blipFill>
          <a:blip r:embed="rId6"/>
          <a:srcRect/>
          <a:stretch/>
        </p:blipFill>
        <p:spPr>
          <a:xfrm>
            <a:off x="8107095" y="1178067"/>
            <a:ext cx="3385977" cy="2811181"/>
          </a:xfrm>
          <a:prstGeom prst="rect">
            <a:avLst/>
          </a:prstGeom>
          <a:ln>
            <a:solidFill>
              <a:schemeClr val="bg1">
                <a:lumMod val="90000"/>
              </a:schemeClr>
            </a:solidFill>
          </a:ln>
        </p:spPr>
      </p:pic>
      <p:pic>
        <p:nvPicPr>
          <p:cNvPr id="30" name="Picture 29">
            <a:extLst>
              <a:ext uri="{FF2B5EF4-FFF2-40B4-BE49-F238E27FC236}">
                <a16:creationId xmlns:a16="http://schemas.microsoft.com/office/drawing/2014/main" id="{934AA2D7-D4E6-EE81-E8F0-0CD0BAF4C84B}"/>
              </a:ext>
            </a:extLst>
          </p:cNvPr>
          <p:cNvPicPr>
            <a:picLocks noChangeAspect="1"/>
          </p:cNvPicPr>
          <p:nvPr/>
        </p:nvPicPr>
        <p:blipFill>
          <a:blip r:embed="rId7"/>
          <a:stretch>
            <a:fillRect/>
          </a:stretch>
        </p:blipFill>
        <p:spPr>
          <a:xfrm>
            <a:off x="4421529" y="1277118"/>
            <a:ext cx="3594318" cy="1234547"/>
          </a:xfrm>
          <a:prstGeom prst="rect">
            <a:avLst/>
          </a:prstGeom>
          <a:ln>
            <a:solidFill>
              <a:schemeClr val="bg1">
                <a:lumMod val="90000"/>
              </a:schemeClr>
            </a:solidFill>
          </a:ln>
        </p:spPr>
      </p:pic>
      <p:pic>
        <p:nvPicPr>
          <p:cNvPr id="32" name="Picture 31">
            <a:extLst>
              <a:ext uri="{FF2B5EF4-FFF2-40B4-BE49-F238E27FC236}">
                <a16:creationId xmlns:a16="http://schemas.microsoft.com/office/drawing/2014/main" id="{1E9C9539-F9AE-8AEB-B722-02B349054AAF}"/>
              </a:ext>
            </a:extLst>
          </p:cNvPr>
          <p:cNvPicPr>
            <a:picLocks noChangeAspect="1"/>
          </p:cNvPicPr>
          <p:nvPr/>
        </p:nvPicPr>
        <p:blipFill>
          <a:blip r:embed="rId8"/>
          <a:stretch>
            <a:fillRect/>
          </a:stretch>
        </p:blipFill>
        <p:spPr>
          <a:xfrm>
            <a:off x="612232" y="1178067"/>
            <a:ext cx="3696020" cy="1905165"/>
          </a:xfrm>
          <a:prstGeom prst="rect">
            <a:avLst/>
          </a:prstGeom>
          <a:ln>
            <a:solidFill>
              <a:schemeClr val="bg1">
                <a:lumMod val="90000"/>
              </a:schemeClr>
            </a:solidFill>
          </a:ln>
        </p:spPr>
      </p:pic>
    </p:spTree>
    <p:extLst>
      <p:ext uri="{BB962C8B-B14F-4D97-AF65-F5344CB8AC3E}">
        <p14:creationId xmlns:p14="http://schemas.microsoft.com/office/powerpoint/2010/main" val="387597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20B2C-9191-5A08-70E5-F9EBEBF72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36072-9607-9AE3-006F-39F53C3D0441}"/>
              </a:ext>
            </a:extLst>
          </p:cNvPr>
          <p:cNvSpPr>
            <a:spLocks noGrp="1"/>
          </p:cNvSpPr>
          <p:nvPr>
            <p:ph type="title"/>
          </p:nvPr>
        </p:nvSpPr>
        <p:spPr>
          <a:xfrm>
            <a:off x="840186" y="459465"/>
            <a:ext cx="10511627" cy="614885"/>
          </a:xfrm>
        </p:spPr>
        <p:txBody>
          <a:bodyPr/>
          <a:lstStyle/>
          <a:p>
            <a:r>
              <a:rPr lang="en-US" dirty="0" err="1">
                <a:latin typeface="Arial Black" panose="020B0A04020102020204" pitchFamily="34" charset="0"/>
              </a:rPr>
              <a:t>M</a:t>
            </a:r>
            <a:r>
              <a:rPr lang="en-US" sz="2400" dirty="0" err="1">
                <a:latin typeface="Arial Black" panose="020B0A04020102020204" pitchFamily="34" charset="0"/>
              </a:rPr>
              <a:t>y</a:t>
            </a:r>
            <a:r>
              <a:rPr lang="en-US" dirty="0" err="1">
                <a:latin typeface="Arial Black" panose="020B0A04020102020204" pitchFamily="34" charset="0"/>
              </a:rPr>
              <a:t>s</a:t>
            </a:r>
            <a:r>
              <a:rPr lang="en-US" sz="2400" dirty="0" err="1">
                <a:latin typeface="Arial Black" panose="020B0A04020102020204" pitchFamily="34" charset="0"/>
              </a:rPr>
              <a:t>ql</a:t>
            </a:r>
            <a:r>
              <a:rPr lang="en-US" sz="2400" dirty="0">
                <a:latin typeface="Arial Black" panose="020B0A04020102020204" pitchFamily="34" charset="0"/>
              </a:rPr>
              <a:t> </a:t>
            </a:r>
            <a:r>
              <a:rPr lang="en-US" dirty="0"/>
              <a:t>queries</a:t>
            </a:r>
          </a:p>
        </p:txBody>
      </p:sp>
      <p:pic>
        <p:nvPicPr>
          <p:cNvPr id="10" name="Content Placeholder 9">
            <a:extLst>
              <a:ext uri="{FF2B5EF4-FFF2-40B4-BE49-F238E27FC236}">
                <a16:creationId xmlns:a16="http://schemas.microsoft.com/office/drawing/2014/main" id="{00F7D1DB-844C-92F4-9F88-EAC897DE2F99}"/>
              </a:ext>
            </a:extLst>
          </p:cNvPr>
          <p:cNvPicPr>
            <a:picLocks noGrp="1" noChangeAspect="1"/>
          </p:cNvPicPr>
          <p:nvPr>
            <p:ph sz="quarter" idx="4"/>
          </p:nvPr>
        </p:nvPicPr>
        <p:blipFill>
          <a:blip r:embed="rId3"/>
          <a:stretch>
            <a:fillRect/>
          </a:stretch>
        </p:blipFill>
        <p:spPr>
          <a:xfrm>
            <a:off x="8253234" y="1422104"/>
            <a:ext cx="3296620" cy="1920406"/>
          </a:xfrm>
          <a:prstGeom prst="rect">
            <a:avLst/>
          </a:prstGeom>
          <a:ln>
            <a:solidFill>
              <a:schemeClr val="bg1">
                <a:lumMod val="90000"/>
              </a:schemeClr>
            </a:solidFill>
          </a:ln>
        </p:spPr>
      </p:pic>
      <p:pic>
        <p:nvPicPr>
          <p:cNvPr id="12" name="Picture 11">
            <a:extLst>
              <a:ext uri="{FF2B5EF4-FFF2-40B4-BE49-F238E27FC236}">
                <a16:creationId xmlns:a16="http://schemas.microsoft.com/office/drawing/2014/main" id="{906B0233-907C-215A-F4B0-1C5CCA366887}"/>
              </a:ext>
            </a:extLst>
          </p:cNvPr>
          <p:cNvPicPr>
            <a:picLocks noChangeAspect="1"/>
          </p:cNvPicPr>
          <p:nvPr/>
        </p:nvPicPr>
        <p:blipFill>
          <a:blip r:embed="rId4"/>
          <a:stretch>
            <a:fillRect/>
          </a:stretch>
        </p:blipFill>
        <p:spPr>
          <a:xfrm>
            <a:off x="4830413" y="5531922"/>
            <a:ext cx="4435224" cy="1005431"/>
          </a:xfrm>
          <a:prstGeom prst="rect">
            <a:avLst/>
          </a:prstGeom>
          <a:ln>
            <a:solidFill>
              <a:schemeClr val="bg1">
                <a:lumMod val="90000"/>
              </a:schemeClr>
            </a:solidFill>
          </a:ln>
        </p:spPr>
      </p:pic>
      <p:pic>
        <p:nvPicPr>
          <p:cNvPr id="14" name="Picture 13">
            <a:extLst>
              <a:ext uri="{FF2B5EF4-FFF2-40B4-BE49-F238E27FC236}">
                <a16:creationId xmlns:a16="http://schemas.microsoft.com/office/drawing/2014/main" id="{F585C1B4-66B3-51C5-EEA9-39EC7A3C2D2E}"/>
              </a:ext>
            </a:extLst>
          </p:cNvPr>
          <p:cNvPicPr>
            <a:picLocks noChangeAspect="1"/>
          </p:cNvPicPr>
          <p:nvPr/>
        </p:nvPicPr>
        <p:blipFill>
          <a:blip r:embed="rId5"/>
          <a:stretch>
            <a:fillRect/>
          </a:stretch>
        </p:blipFill>
        <p:spPr>
          <a:xfrm>
            <a:off x="4830413" y="4087039"/>
            <a:ext cx="4191363" cy="1348857"/>
          </a:xfrm>
          <a:prstGeom prst="rect">
            <a:avLst/>
          </a:prstGeom>
          <a:ln>
            <a:solidFill>
              <a:schemeClr val="bg1">
                <a:lumMod val="90000"/>
              </a:schemeClr>
            </a:solidFill>
          </a:ln>
        </p:spPr>
      </p:pic>
      <p:pic>
        <p:nvPicPr>
          <p:cNvPr id="16" name="Picture 15">
            <a:extLst>
              <a:ext uri="{FF2B5EF4-FFF2-40B4-BE49-F238E27FC236}">
                <a16:creationId xmlns:a16="http://schemas.microsoft.com/office/drawing/2014/main" id="{B2104B45-7C0C-2633-6E91-D6A3DC5CFA6B}"/>
              </a:ext>
            </a:extLst>
          </p:cNvPr>
          <p:cNvPicPr>
            <a:picLocks noChangeAspect="1"/>
          </p:cNvPicPr>
          <p:nvPr/>
        </p:nvPicPr>
        <p:blipFill>
          <a:blip r:embed="rId6"/>
          <a:stretch>
            <a:fillRect/>
          </a:stretch>
        </p:blipFill>
        <p:spPr>
          <a:xfrm>
            <a:off x="4830413" y="1199488"/>
            <a:ext cx="3296620" cy="2634798"/>
          </a:xfrm>
          <a:prstGeom prst="rect">
            <a:avLst/>
          </a:prstGeom>
          <a:ln>
            <a:solidFill>
              <a:schemeClr val="bg1">
                <a:lumMod val="90000"/>
              </a:schemeClr>
            </a:solidFill>
          </a:ln>
        </p:spPr>
      </p:pic>
      <p:pic>
        <p:nvPicPr>
          <p:cNvPr id="18" name="Picture 17">
            <a:extLst>
              <a:ext uri="{FF2B5EF4-FFF2-40B4-BE49-F238E27FC236}">
                <a16:creationId xmlns:a16="http://schemas.microsoft.com/office/drawing/2014/main" id="{2356B1BB-4919-8CAC-BABA-E11C0643D58A}"/>
              </a:ext>
            </a:extLst>
          </p:cNvPr>
          <p:cNvPicPr>
            <a:picLocks noChangeAspect="1"/>
          </p:cNvPicPr>
          <p:nvPr/>
        </p:nvPicPr>
        <p:blipFill>
          <a:blip r:embed="rId7"/>
          <a:stretch>
            <a:fillRect/>
          </a:stretch>
        </p:blipFill>
        <p:spPr>
          <a:xfrm>
            <a:off x="840186" y="4087039"/>
            <a:ext cx="3864026" cy="2450314"/>
          </a:xfrm>
          <a:prstGeom prst="rect">
            <a:avLst/>
          </a:prstGeom>
          <a:ln>
            <a:solidFill>
              <a:schemeClr val="bg1">
                <a:lumMod val="90000"/>
              </a:schemeClr>
            </a:solidFill>
          </a:ln>
        </p:spPr>
      </p:pic>
      <p:pic>
        <p:nvPicPr>
          <p:cNvPr id="20" name="Picture 19">
            <a:extLst>
              <a:ext uri="{FF2B5EF4-FFF2-40B4-BE49-F238E27FC236}">
                <a16:creationId xmlns:a16="http://schemas.microsoft.com/office/drawing/2014/main" id="{4A6FFB90-5E71-3E00-4655-71D19E3BB161}"/>
              </a:ext>
            </a:extLst>
          </p:cNvPr>
          <p:cNvPicPr>
            <a:picLocks noChangeAspect="1"/>
          </p:cNvPicPr>
          <p:nvPr/>
        </p:nvPicPr>
        <p:blipFill>
          <a:blip r:embed="rId8"/>
          <a:stretch>
            <a:fillRect/>
          </a:stretch>
        </p:blipFill>
        <p:spPr>
          <a:xfrm>
            <a:off x="840186" y="1190527"/>
            <a:ext cx="3864026" cy="2634799"/>
          </a:xfrm>
          <a:prstGeom prst="rect">
            <a:avLst/>
          </a:prstGeom>
          <a:ln>
            <a:solidFill>
              <a:schemeClr val="bg1">
                <a:lumMod val="90000"/>
              </a:schemeClr>
            </a:solidFill>
          </a:ln>
        </p:spPr>
      </p:pic>
    </p:spTree>
    <p:extLst>
      <p:ext uri="{BB962C8B-B14F-4D97-AF65-F5344CB8AC3E}">
        <p14:creationId xmlns:p14="http://schemas.microsoft.com/office/powerpoint/2010/main" val="2395868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590310" y="276655"/>
            <a:ext cx="5715000" cy="533097"/>
          </a:xfrm>
        </p:spPr>
        <p:txBody>
          <a:bodyPr/>
          <a:lstStyle/>
          <a:p>
            <a:pPr algn="ctr"/>
            <a:r>
              <a:rPr lang="en-US" dirty="0"/>
              <a:t>conclusion</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381964" y="1516284"/>
            <a:ext cx="7245752" cy="4224759"/>
          </a:xfrm>
        </p:spPr>
        <p:txBody>
          <a:bodyPr>
            <a:normAutofit/>
          </a:bodyPr>
          <a:lstStyle/>
          <a:p>
            <a:r>
              <a:rPr lang="en-IN" dirty="0">
                <a:latin typeface="Aptos" panose="020B0004020202020204" pitchFamily="34" charset="0"/>
              </a:rPr>
              <a:t>The analysis identified key challenges in retention, payments, claims, and YoY growth, while also revealing strong opportunities in renewals, policy reactivation, cross-selling, and younger-customer acquisition. By addressing these areas with targeted, data-driven strategies, the company can improve customer retention, increase revenue, and achieve sustainable business growth.</a:t>
            </a:r>
            <a:endParaRPr lang="en-US" dirty="0">
              <a:latin typeface="Aptos" panose="020B0004020202020204" pitchFamily="34" charset="0"/>
            </a:endParaRPr>
          </a:p>
        </p:txBody>
      </p:sp>
    </p:spTree>
    <p:extLst>
      <p:ext uri="{BB962C8B-B14F-4D97-AF65-F5344CB8AC3E}">
        <p14:creationId xmlns:p14="http://schemas.microsoft.com/office/powerpoint/2010/main" val="1973173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17288-7E76-D224-A231-6BAC2EA460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E99EB8-ABC1-CF54-49C7-92939155DCFB}"/>
              </a:ext>
            </a:extLst>
          </p:cNvPr>
          <p:cNvSpPr>
            <a:spLocks noGrp="1"/>
          </p:cNvSpPr>
          <p:nvPr>
            <p:ph type="ctrTitle"/>
          </p:nvPr>
        </p:nvSpPr>
        <p:spPr>
          <a:xfrm>
            <a:off x="381000" y="2603166"/>
            <a:ext cx="5715000" cy="825834"/>
          </a:xfrm>
        </p:spPr>
        <p:txBody>
          <a:bodyPr/>
          <a:lstStyle/>
          <a:p>
            <a:pPr algn="ctr"/>
            <a:r>
              <a:rPr lang="en-US" sz="4400" dirty="0">
                <a:latin typeface="Bodoni MT Black" panose="02070A03080606020203" pitchFamily="18" charset="0"/>
              </a:rPr>
              <a:t>Thank you</a:t>
            </a:r>
          </a:p>
        </p:txBody>
      </p:sp>
    </p:spTree>
    <p:extLst>
      <p:ext uri="{BB962C8B-B14F-4D97-AF65-F5344CB8AC3E}">
        <p14:creationId xmlns:p14="http://schemas.microsoft.com/office/powerpoint/2010/main" val="1089081489"/>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{7192354D-3228-4C70-A685-72DC4BAA05DC}TF8a9b5915-b8c7-461e-8cdd-693d48b5e32371f7b7e2_win32-4bf0b9a2ea37</Template>
  <TotalTime>351</TotalTime>
  <Words>1198</Words>
  <Application>Microsoft Office PowerPoint</Application>
  <PresentationFormat>Widescreen</PresentationFormat>
  <Paragraphs>128</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Arial</vt:lpstr>
      <vt:lpstr>Arial Black</vt:lpstr>
      <vt:lpstr>Bodoni MT Black</vt:lpstr>
      <vt:lpstr>Bookman Old Style</vt:lpstr>
      <vt:lpstr>Calibri</vt:lpstr>
      <vt:lpstr>Sabon Next LT</vt:lpstr>
      <vt:lpstr>Custom</vt:lpstr>
      <vt:lpstr>Insurance policy data analysis  &amp;  insights</vt:lpstr>
      <vt:lpstr>agenda</vt:lpstr>
      <vt:lpstr>introduction</vt:lpstr>
      <vt:lpstr>Kpi-1 : POLICY TYPE WISE POLICY COUNT</vt:lpstr>
      <vt:lpstr>Kpi-2 : POLICY STATUS WISE POLICY COUNT </vt:lpstr>
      <vt:lpstr>Kpi-3 : age bucket – wise policy count</vt:lpstr>
      <vt:lpstr>Kpi-4 : payment status wise policy count</vt:lpstr>
      <vt:lpstr>Kpi-5 : YOy / mom / qoq premium performance </vt:lpstr>
      <vt:lpstr>Kpi-6 : policies expiring this year</vt:lpstr>
      <vt:lpstr>Kpi-7 : Customers holding multiple policies</vt:lpstr>
      <vt:lpstr>recommendations</vt:lpstr>
      <vt:lpstr>Excel dashboard</vt:lpstr>
      <vt:lpstr>Power bi dashboard</vt:lpstr>
      <vt:lpstr>tableau dashboard</vt:lpstr>
      <vt:lpstr>Mysql queries</vt:lpstr>
      <vt:lpstr>Mysql queries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Lav Dubey</dc:creator>
  <cp:lastModifiedBy>Lav Dubey</cp:lastModifiedBy>
  <cp:revision>1</cp:revision>
  <dcterms:created xsi:type="dcterms:W3CDTF">2026-08-11T16:32:15Z</dcterms:created>
  <dcterms:modified xsi:type="dcterms:W3CDTF">2026-10-04T07:08:52Z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